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4DA3FF"/>
                </a:solidFill>
                <a:latin typeface="Segoe UI"/>
              </a:rPr>
              <a:t>VISION STATEMENT</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Kaiju Arcade — Kaiju vs. Command</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Vision Statement</a:t>
            </a:r>
          </a:p>
        </p:txBody>
      </p:sp>
      <p:sp>
        <p:nvSpPr>
          <p:cNvPr id="5" name="TextBox 4"/>
          <p:cNvSpPr txBox="1"/>
          <p:nvPr/>
        </p:nvSpPr>
        <p:spPr>
          <a:xfrm>
            <a:off x="548640" y="2468880"/>
            <a:ext cx="10972800" cy="1371600"/>
          </a:xfrm>
          <a:prstGeom prst="rect">
            <a:avLst/>
          </a:prstGeom>
          <a:noFill/>
        </p:spPr>
        <p:txBody>
          <a:bodyPr wrap="square">
            <a:normAutofit/>
          </a:bodyPr>
          <a:lstStyle/>
          <a:p>
            <a:r>
              <a:rPr sz="1000" b="0" i="0">
                <a:solidFill>
                  <a:srgbClr val="D7DDEA"/>
                </a:solidFill>
                <a:latin typeface="Segoe UI"/>
              </a:rPr>
              <a:t>Build a short-form, BYOD local multiplayer arcade game where one player commands a city's last defense while one to four others pilot unstoppable kaiju — a consequence-free simulation of asymmetric incident command where the only question is how many you can save before the city falls.</a:t>
            </a:r>
          </a:p>
        </p:txBody>
      </p:sp>
      <p:sp>
        <p:nvSpPr>
          <p:cNvPr id="6" name="TextBox 5"/>
          <p:cNvSpPr txBox="1"/>
          <p:nvPr/>
        </p:nvSpPr>
        <p:spPr>
          <a:xfrm>
            <a:off x="548640" y="3931920"/>
            <a:ext cx="10972800" cy="365760"/>
          </a:xfrm>
          <a:prstGeom prst="rect">
            <a:avLst/>
          </a:prstGeom>
          <a:noFill/>
        </p:spPr>
        <p:txBody>
          <a:bodyPr wrap="square">
            <a:spAutoFit/>
          </a:bodyPr>
          <a:lstStyle/>
          <a:p>
            <a:r>
              <a:rPr sz="1200" b="1" i="0">
                <a:solidFill>
                  <a:srgbClr val="4DA3FF"/>
                </a:solidFill>
                <a:latin typeface="Segoe UI"/>
              </a:rPr>
              <a:t>Why This Matters</a:t>
            </a:r>
          </a:p>
        </p:txBody>
      </p:sp>
      <p:sp>
        <p:nvSpPr>
          <p:cNvPr id="7" name="TextBox 6"/>
          <p:cNvSpPr txBox="1"/>
          <p:nvPr/>
        </p:nvSpPr>
        <p:spPr>
          <a:xfrm>
            <a:off x="548640" y="4389120"/>
            <a:ext cx="10972800" cy="1645920"/>
          </a:xfrm>
          <a:prstGeom prst="rect">
            <a:avLst/>
          </a:prstGeom>
          <a:noFill/>
        </p:spPr>
        <p:txBody>
          <a:bodyPr wrap="square">
            <a:normAutofit/>
          </a:bodyPr>
          <a:lstStyle/>
          <a:p>
            <a:r>
              <a:rPr sz="1000" b="0" i="0">
                <a:solidFill>
                  <a:srgbClr val="D7DDEA"/>
                </a:solidFill>
                <a:latin typeface="Segoe UI"/>
              </a:rPr>
              <a:t>Asymmetric multiplayer games are rare in the local co-located space. Most require dedicated hardware or assume online play. Kaiju vs. Command targets the Jackbox-style social session: everyone in the same room, own devices, rounds short enough to swap seats and chase the high score.</a:t>
            </a:r>
          </a:p>
          <a:p>
            <a:r>
              <a:rPr sz="1000" b="0" i="0">
                <a:solidFill>
                  <a:srgbClr val="D7DDEA"/>
                </a:solidFill>
                <a:latin typeface="Segoe UI"/>
              </a:rPr>
              <a:t/>
            </a:r>
          </a:p>
          <a:p>
            <a:r>
              <a:rPr sz="1000" b="0" i="0">
                <a:solidFill>
                  <a:srgbClr val="D7DDEA"/>
                </a:solidFill>
                <a:latin typeface="Segoe UI"/>
              </a:rPr>
              <a:t>The "managed retreat" framing — kaiju always win; the Commander scores by evacuating humans — creates a replayable loop with no binary win/lose frustration. Players want to beat their own evacuation record and the leaderboard, not just survive. The arcade aesthetic (1993 quarter-muncher, CRT phosphor, INSERT COIN flash) anchors the tone: this is a game you play loudly with other people, not a polished esports title.</a:t>
            </a:r>
          </a:p>
        </p:txBody>
      </p:sp>
      <p:sp>
        <p:nvSpPr>
          <p:cNvPr id="8" name="TextBox 7"/>
          <p:cNvSpPr txBox="1"/>
          <p:nvPr/>
        </p:nvSpPr>
        <p:spPr>
          <a:xfrm>
            <a:off x="548640" y="6263640"/>
            <a:ext cx="7863840" cy="228600"/>
          </a:xfrm>
          <a:prstGeom prst="rect">
            <a:avLst/>
          </a:prstGeom>
          <a:noFill/>
        </p:spPr>
        <p:txBody>
          <a:bodyPr wrap="square">
            <a:spAutoFit/>
          </a:bodyPr>
          <a:lstStyle/>
          <a:p>
            <a:r>
              <a:rPr sz="900" b="0" i="0">
                <a:solidFill>
                  <a:srgbClr val="77809A"/>
                </a:solidFill>
                <a:latin typeface="Segoe UI"/>
              </a:rPr>
              <a:t>Source: vision-statement.md</a:t>
            </a:r>
          </a:p>
        </p:txBody>
      </p:sp>
      <p:sp>
        <p:nvSpPr>
          <p:cNvPr id="9" name="TextBox 8"/>
          <p:cNvSpPr txBox="1"/>
          <p:nvPr/>
        </p:nvSpPr>
        <p:spPr>
          <a:xfrm>
            <a:off x="9784080" y="6263640"/>
            <a:ext cx="1828800" cy="228600"/>
          </a:xfrm>
          <a:prstGeom prst="rect">
            <a:avLst/>
          </a:prstGeom>
          <a:noFill/>
        </p:spPr>
        <p:txBody>
          <a:bodyPr wrap="square">
            <a:spAutoFit/>
          </a:bodyPr>
          <a:lstStyle/>
          <a:p>
            <a:pPr algn="r"/>
            <a:r>
              <a:rPr sz="900" b="0" i="0">
                <a:solidFill>
                  <a:srgbClr val="77809A"/>
                </a:solidFill>
                <a:latin typeface="Segoe UI"/>
              </a:rPr>
              <a:t>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F07A4B"/>
                </a:solidFill>
                <a:latin typeface="Segoe UI"/>
              </a:rPr>
              <a:t>PROBLEM STATEMENT</a:t>
            </a:r>
          </a:p>
        </p:txBody>
      </p:sp>
      <p:sp>
        <p:nvSpPr>
          <p:cNvPr id="3" name="TextBox 2"/>
          <p:cNvSpPr txBox="1"/>
          <p:nvPr/>
        </p:nvSpPr>
        <p:spPr>
          <a:xfrm>
            <a:off x="548640" y="1188720"/>
            <a:ext cx="10972800" cy="1005840"/>
          </a:xfrm>
          <a:prstGeom prst="rect">
            <a:avLst/>
          </a:prstGeom>
          <a:noFill/>
        </p:spPr>
        <p:txBody>
          <a:bodyPr wrap="square">
            <a:spAutoFit/>
          </a:bodyPr>
          <a:lstStyle/>
          <a:p>
            <a:r>
              <a:rPr sz="3000" b="1" i="0">
                <a:solidFill>
                  <a:srgbClr val="FFFFFF"/>
                </a:solidFill>
                <a:latin typeface="Segoe UI"/>
              </a:rPr>
              <a:t>Kaiju Arcade — Problem Statement</a:t>
            </a:r>
          </a:p>
        </p:txBody>
      </p:sp>
      <p:sp>
        <p:nvSpPr>
          <p:cNvPr id="4" name="TextBox 3"/>
          <p:cNvSpPr txBox="1"/>
          <p:nvPr/>
        </p:nvSpPr>
        <p:spPr>
          <a:xfrm>
            <a:off x="548640" y="2377440"/>
            <a:ext cx="10972800" cy="3566160"/>
          </a:xfrm>
          <a:prstGeom prst="rect">
            <a:avLst/>
          </a:prstGeom>
          <a:noFill/>
        </p:spPr>
        <p:txBody>
          <a:bodyPr wrap="square">
            <a:normAutofit/>
          </a:bodyPr>
          <a:lstStyle/>
          <a:p>
            <a:r>
              <a:rPr sz="1600" b="0" i="0">
                <a:solidFill>
                  <a:srgbClr val="D7DDEA"/>
                </a:solidFill>
                <a:latin typeface="Segoe UI"/>
              </a:rPr>
              <a:t>The absence of short-form, co-located asymmetric multiplayer games is producing an unmet need for social gaming groups who want a high-energy, consequence-free simulation of coordination under pressure for players who enjoy both solo optimization (Commander) and emergent group chaos (Kaiju). How might we build a 90-second BYOD arcade experience — where the room's verbal energy is a core mechanic, kaiju always win but the Commander scores by saving lives, and every role is legible without a tutorial — so that we can provide a replayable, score-chasing social session where defeat feels like achievement and the leaderboard keeps people coming back?</a:t>
            </a:r>
          </a:p>
        </p:txBody>
      </p:sp>
      <p:sp>
        <p:nvSpPr>
          <p:cNvPr id="5" name="TextBox 4"/>
          <p:cNvSpPr txBox="1"/>
          <p:nvPr/>
        </p:nvSpPr>
        <p:spPr>
          <a:xfrm>
            <a:off x="548640" y="6309360"/>
            <a:ext cx="7863840" cy="228600"/>
          </a:xfrm>
          <a:prstGeom prst="rect">
            <a:avLst/>
          </a:prstGeom>
          <a:noFill/>
        </p:spPr>
        <p:txBody>
          <a:bodyPr wrap="square">
            <a:spAutoFit/>
          </a:bodyPr>
          <a:lstStyle/>
          <a:p>
            <a:r>
              <a:rPr sz="900" b="0" i="0">
                <a:solidFill>
                  <a:srgbClr val="77809A"/>
                </a:solidFill>
                <a:latin typeface="Segoe UI"/>
              </a:rPr>
              <a:t>Source: problem-statement.md</a:t>
            </a:r>
          </a:p>
        </p:txBody>
      </p:sp>
      <p:sp>
        <p:nvSpPr>
          <p:cNvPr id="6" name="TextBox 5"/>
          <p:cNvSpPr txBox="1"/>
          <p:nvPr/>
        </p:nvSpPr>
        <p:spPr>
          <a:xfrm>
            <a:off x="9784080" y="6309360"/>
            <a:ext cx="1828800" cy="228600"/>
          </a:xfrm>
          <a:prstGeom prst="rect">
            <a:avLst/>
          </a:prstGeom>
          <a:noFill/>
        </p:spPr>
        <p:txBody>
          <a:bodyPr wrap="square">
            <a:spAutoFit/>
          </a:bodyPr>
          <a:lstStyle/>
          <a:p>
            <a:pPr algn="r"/>
            <a:r>
              <a:rPr sz="900" b="0" i="0">
                <a:solidFill>
                  <a:srgbClr val="77809A"/>
                </a:solidFill>
                <a:latin typeface="Segoe UI"/>
              </a:rPr>
              <a:t>2026-06-24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ECF7A"/>
                </a:solidFill>
                <a:latin typeface="Segoe UI"/>
              </a:rPr>
              <a:t>SCENARIO</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Scenario — End of Round: Score, Leaderboard, Seat Swap</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Description</a:t>
            </a:r>
          </a:p>
        </p:txBody>
      </p:sp>
      <p:sp>
        <p:nvSpPr>
          <p:cNvPr id="5" name="TextBox 4"/>
          <p:cNvSpPr txBox="1"/>
          <p:nvPr/>
        </p:nvSpPr>
        <p:spPr>
          <a:xfrm>
            <a:off x="548640" y="2468880"/>
            <a:ext cx="10972800" cy="822960"/>
          </a:xfrm>
          <a:prstGeom prst="rect">
            <a:avLst/>
          </a:prstGeom>
          <a:noFill/>
        </p:spPr>
        <p:txBody>
          <a:bodyPr wrap="square">
            <a:normAutofit/>
          </a:bodyPr>
          <a:lstStyle/>
          <a:p>
            <a:r>
              <a:rPr sz="1000" b="0" i="0">
                <a:solidFill>
                  <a:srgbClr val="D7DDEA"/>
                </a:solidFill>
                <a:latin typeface="Segoe UI"/>
              </a:rPr>
              <a:t>The match ends — the city falls. The Commander's evacuation count is revealed, the score screen appears, and the room transitions into the social ritual of initials entry, leaderboard checking, and seat rotation for the next round.</a:t>
            </a:r>
          </a:p>
        </p:txBody>
      </p:sp>
      <p:sp>
        <p:nvSpPr>
          <p:cNvPr id="6" name="TextBox 5"/>
          <p:cNvSpPr txBox="1"/>
          <p:nvPr/>
        </p:nvSpPr>
        <p:spPr>
          <a:xfrm>
            <a:off x="548640" y="3383280"/>
            <a:ext cx="10972800" cy="365760"/>
          </a:xfrm>
          <a:prstGeom prst="rect">
            <a:avLst/>
          </a:prstGeom>
          <a:noFill/>
        </p:spPr>
        <p:txBody>
          <a:bodyPr wrap="square">
            <a:spAutoFit/>
          </a:bodyPr>
          <a:lstStyle/>
          <a:p>
            <a:r>
              <a:rPr sz="1200" b="1" i="0">
                <a:solidFill>
                  <a:srgbClr val="4DA3FF"/>
                </a:solidFill>
                <a:latin typeface="Segoe UI"/>
              </a:rPr>
              <a:t>Scenario Narrative</a:t>
            </a:r>
          </a:p>
        </p:txBody>
      </p:sp>
      <p:sp>
        <p:nvSpPr>
          <p:cNvPr id="7" name="TextBox 6"/>
          <p:cNvSpPr txBox="1"/>
          <p:nvPr/>
        </p:nvSpPr>
        <p:spPr>
          <a:xfrm>
            <a:off x="548640" y="3840480"/>
            <a:ext cx="10972800" cy="1280160"/>
          </a:xfrm>
          <a:prstGeom prst="rect">
            <a:avLst/>
          </a:prstGeom>
          <a:noFill/>
        </p:spPr>
        <p:txBody>
          <a:bodyPr wrap="square">
            <a:normAutofit/>
          </a:bodyPr>
          <a:lstStyle/>
          <a:p>
            <a:r>
              <a:rPr sz="1000" b="0" i="0">
                <a:solidFill>
                  <a:srgbClr val="D7DDEA"/>
                </a:solidFill>
                <a:latin typeface="Segoe UI"/>
              </a:rPr>
              <a:t>The kaiju breach the city base. The Commander's screen cuts to the score reveal: a large evacuation number, a letter grade or ranking, and a prompt to enter initials. Someone in the room groans. Someone else says "I can do better than that — let me be Commander." The current Commander types three initials. The leaderboard flashes. The score is on the board.</a:t>
            </a:r>
          </a:p>
          <a:p>
            <a:r>
              <a:rPr sz="1000" b="0" i="0">
                <a:solidFill>
                  <a:srgbClr val="D7DDEA"/>
                </a:solidFill>
                <a:latin typeface="Segoe UI"/>
              </a:rPr>
              <a:t/>
            </a:r>
          </a:p>
          <a:p>
            <a:r>
              <a:rPr sz="1000" b="0" i="0">
                <a:solidFill>
                  <a:srgbClr val="D7DDEA"/>
                </a:solidFill>
                <a:latin typeface="Segoe UI"/>
              </a:rPr>
              <a:t>Kaiju players are already arguing about which archetype to pick next round. The person who was spectating slides into the Commander seat. Another round code goes up. Thirty seconds later the next match starts.</a:t>
            </a:r>
          </a:p>
          <a:p>
            <a:r>
              <a:rPr sz="1000" b="0" i="0">
                <a:solidFill>
                  <a:srgbClr val="D7DDEA"/>
                </a:solidFill>
                <a:latin typeface="Segoe UI"/>
              </a:rPr>
              <a:t/>
            </a:r>
          </a:p>
          <a:p>
            <a:r>
              <a:rPr sz="1000" b="0" i="0">
                <a:solidFill>
                  <a:srgbClr val="D7DDEA"/>
                </a:solidFill>
                <a:latin typeface="Segoe UI"/>
              </a:rPr>
              <a:t>The leaderboard is persistent — it lives in Azure Table Storage, it shows all-time best runs. Someone from last week is still in the top three. The new Commander has a target.</a:t>
            </a:r>
          </a:p>
        </p:txBody>
      </p:sp>
      <p:sp>
        <p:nvSpPr>
          <p:cNvPr id="8" name="TextBox 7"/>
          <p:cNvSpPr txBox="1"/>
          <p:nvPr/>
        </p:nvSpPr>
        <p:spPr>
          <a:xfrm>
            <a:off x="548640" y="5212080"/>
            <a:ext cx="10972800" cy="365760"/>
          </a:xfrm>
          <a:prstGeom prst="rect">
            <a:avLst/>
          </a:prstGeom>
          <a:noFill/>
        </p:spPr>
        <p:txBody>
          <a:bodyPr wrap="square">
            <a:spAutoFit/>
          </a:bodyPr>
          <a:lstStyle/>
          <a:p>
            <a:r>
              <a:rPr sz="1200" b="1" i="0">
                <a:solidFill>
                  <a:srgbClr val="4DA3FF"/>
                </a:solidFill>
                <a:latin typeface="Segoe UI"/>
              </a:rPr>
              <a:t>How Might We</a:t>
            </a:r>
          </a:p>
        </p:txBody>
      </p:sp>
      <p:sp>
        <p:nvSpPr>
          <p:cNvPr id="9" name="TextBox 8"/>
          <p:cNvSpPr txBox="1"/>
          <p:nvPr/>
        </p:nvSpPr>
        <p:spPr>
          <a:xfrm>
            <a:off x="548640" y="5669280"/>
            <a:ext cx="10972800" cy="457200"/>
          </a:xfrm>
          <a:prstGeom prst="rect">
            <a:avLst/>
          </a:prstGeom>
          <a:noFill/>
        </p:spPr>
        <p:txBody>
          <a:bodyPr wrap="square">
            <a:normAutofit/>
          </a:bodyPr>
          <a:lstStyle/>
          <a:p>
            <a:r>
              <a:rPr sz="1000" b="0" i="0">
                <a:solidFill>
                  <a:srgbClr val="D7DDEA"/>
                </a:solidFill>
                <a:latin typeface="Segoe UI"/>
              </a:rPr>
              <a:t>How might we design the end-of-round score screen and initials entry so it becomes a social ceremony — a moment of acknowledgment, laughter, or competitive fire — rather than a loading screen between rounds?</a:t>
            </a:r>
          </a:p>
        </p:txBody>
      </p:sp>
      <p:sp>
        <p:nvSpPr>
          <p:cNvPr id="10" name="TextBox 9"/>
          <p:cNvSpPr txBox="1"/>
          <p:nvPr/>
        </p:nvSpPr>
        <p:spPr>
          <a:xfrm>
            <a:off x="548640" y="6263640"/>
            <a:ext cx="7863840" cy="228600"/>
          </a:xfrm>
          <a:prstGeom prst="rect">
            <a:avLst/>
          </a:prstGeom>
          <a:noFill/>
        </p:spPr>
        <p:txBody>
          <a:bodyPr wrap="square">
            <a:spAutoFit/>
          </a:bodyPr>
          <a:lstStyle/>
          <a:p>
            <a:r>
              <a:rPr sz="900" b="0" i="0">
                <a:solidFill>
                  <a:srgbClr val="77809A"/>
                </a:solidFill>
                <a:latin typeface="Segoe UI"/>
              </a:rPr>
              <a:t>Source: scenarios/end-of-round.md</a:t>
            </a:r>
          </a:p>
        </p:txBody>
      </p:sp>
      <p:sp>
        <p:nvSpPr>
          <p:cNvPr id="11" name="TextBox 10"/>
          <p:cNvSpPr txBox="1"/>
          <p:nvPr/>
        </p:nvSpPr>
        <p:spPr>
          <a:xfrm>
            <a:off x="9784080" y="6263640"/>
            <a:ext cx="1828800" cy="228600"/>
          </a:xfrm>
          <a:prstGeom prst="rect">
            <a:avLst/>
          </a:prstGeom>
          <a:noFill/>
        </p:spPr>
        <p:txBody>
          <a:bodyPr wrap="square">
            <a:spAutoFit/>
          </a:bodyPr>
          <a:lstStyle/>
          <a:p>
            <a:pPr algn="r"/>
            <a:r>
              <a:rPr sz="900" b="0" i="0">
                <a:solidFill>
                  <a:srgbClr val="77809A"/>
                </a:solidFill>
                <a:latin typeface="Segoe UI"/>
              </a:rPr>
              <a:t>2026-06-24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ECF7A"/>
                </a:solidFill>
                <a:latin typeface="Segoe UI"/>
              </a:rPr>
              <a:t>SCENARIO</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Scenario — Social Session at a Gathering</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Description</a:t>
            </a:r>
          </a:p>
        </p:txBody>
      </p:sp>
      <p:sp>
        <p:nvSpPr>
          <p:cNvPr id="5" name="TextBox 4"/>
          <p:cNvSpPr txBox="1"/>
          <p:nvPr/>
        </p:nvSpPr>
        <p:spPr>
          <a:xfrm>
            <a:off x="548640" y="2468880"/>
            <a:ext cx="10972800" cy="822960"/>
          </a:xfrm>
          <a:prstGeom prst="rect">
            <a:avLst/>
          </a:prstGeom>
          <a:noFill/>
        </p:spPr>
        <p:txBody>
          <a:bodyPr wrap="square">
            <a:normAutofit/>
          </a:bodyPr>
          <a:lstStyle/>
          <a:p>
            <a:r>
              <a:rPr sz="1000" b="0" i="0">
                <a:solidFill>
                  <a:srgbClr val="D7DDEA"/>
                </a:solidFill>
                <a:latin typeface="Segoe UI"/>
              </a:rPr>
              <a:t>A group of 3–5 people at a social event — a bar, a house party, a work event — discover or are introduced to Kaiju vs. Command. One person pulls up the Commander dashboard on a laptop; others join as kaiju on their phones via a room code. Rounds are 90 seconds. Players rotate seats between rounds and chase the high score leaderboard.</a:t>
            </a:r>
          </a:p>
        </p:txBody>
      </p:sp>
      <p:sp>
        <p:nvSpPr>
          <p:cNvPr id="6" name="TextBox 5"/>
          <p:cNvSpPr txBox="1"/>
          <p:nvPr/>
        </p:nvSpPr>
        <p:spPr>
          <a:xfrm>
            <a:off x="548640" y="3383280"/>
            <a:ext cx="10972800" cy="365760"/>
          </a:xfrm>
          <a:prstGeom prst="rect">
            <a:avLst/>
          </a:prstGeom>
          <a:noFill/>
        </p:spPr>
        <p:txBody>
          <a:bodyPr wrap="square">
            <a:spAutoFit/>
          </a:bodyPr>
          <a:lstStyle/>
          <a:p>
            <a:r>
              <a:rPr sz="1200" b="1" i="0">
                <a:solidFill>
                  <a:srgbClr val="4DA3FF"/>
                </a:solidFill>
                <a:latin typeface="Segoe UI"/>
              </a:rPr>
              <a:t>Scenario Narrative</a:t>
            </a:r>
          </a:p>
        </p:txBody>
      </p:sp>
      <p:sp>
        <p:nvSpPr>
          <p:cNvPr id="7" name="TextBox 6"/>
          <p:cNvSpPr txBox="1"/>
          <p:nvPr/>
        </p:nvSpPr>
        <p:spPr>
          <a:xfrm>
            <a:off x="548640" y="3840480"/>
            <a:ext cx="10972800" cy="1280160"/>
          </a:xfrm>
          <a:prstGeom prst="rect">
            <a:avLst/>
          </a:prstGeom>
          <a:noFill/>
        </p:spPr>
        <p:txBody>
          <a:bodyPr wrap="square">
            <a:normAutofit/>
          </a:bodyPr>
          <a:lstStyle/>
          <a:p>
            <a:r>
              <a:rPr sz="1000" b="0" i="0">
                <a:solidFill>
                  <a:srgbClr val="D7DDEA"/>
                </a:solidFill>
                <a:latin typeface="Segoe UI"/>
              </a:rPr>
              <a:t>A group is hanging out. Someone opens the game on a laptop and puts it where others can see. Three people grab their phones and scan/type a room code to join as kaiju. The room fills with noise almost immediately — the Commander is barking asset dispatches at the screen, the kaiju players are shouting at each other to time their push. The match ends in under two minutes. The city falls. The Commander enters their initials on a CRT-styled score screen. Someone else slides into the Commander seat. The kaiju players are already picking new leviathans. The next round starts.</a:t>
            </a:r>
          </a:p>
          <a:p>
            <a:r>
              <a:rPr sz="1000" b="0" i="0">
                <a:solidFill>
                  <a:srgbClr val="D7DDEA"/>
                </a:solidFill>
                <a:latin typeface="Segoe UI"/>
              </a:rPr>
              <a:t/>
            </a:r>
          </a:p>
          <a:p>
            <a:r>
              <a:rPr sz="1000" b="0" i="0">
                <a:solidFill>
                  <a:srgbClr val="D7DDEA"/>
                </a:solidFill>
                <a:latin typeface="Segoe UI"/>
              </a:rPr>
              <a:t>The game works because it needs no instruction. The Commander's dashboard reads like a crisis — threats on the map, assets to deploy, rockets to launch. The kaiju feel the city getting closer with every tap. The room becomes the meta-game: yelling, laughing, second-guessing the Commander's choices.</a:t>
            </a:r>
          </a:p>
        </p:txBody>
      </p:sp>
      <p:sp>
        <p:nvSpPr>
          <p:cNvPr id="8" name="TextBox 7"/>
          <p:cNvSpPr txBox="1"/>
          <p:nvPr/>
        </p:nvSpPr>
        <p:spPr>
          <a:xfrm>
            <a:off x="548640" y="5212080"/>
            <a:ext cx="10972800" cy="365760"/>
          </a:xfrm>
          <a:prstGeom prst="rect">
            <a:avLst/>
          </a:prstGeom>
          <a:noFill/>
        </p:spPr>
        <p:txBody>
          <a:bodyPr wrap="square">
            <a:spAutoFit/>
          </a:bodyPr>
          <a:lstStyle/>
          <a:p>
            <a:r>
              <a:rPr sz="1200" b="1" i="0">
                <a:solidFill>
                  <a:srgbClr val="4DA3FF"/>
                </a:solidFill>
                <a:latin typeface="Segoe UI"/>
              </a:rPr>
              <a:t>How Might We</a:t>
            </a:r>
          </a:p>
        </p:txBody>
      </p:sp>
      <p:sp>
        <p:nvSpPr>
          <p:cNvPr id="9" name="TextBox 8"/>
          <p:cNvSpPr txBox="1"/>
          <p:nvPr/>
        </p:nvSpPr>
        <p:spPr>
          <a:xfrm>
            <a:off x="548640" y="5669280"/>
            <a:ext cx="10972800" cy="457200"/>
          </a:xfrm>
          <a:prstGeom prst="rect">
            <a:avLst/>
          </a:prstGeom>
          <a:noFill/>
        </p:spPr>
        <p:txBody>
          <a:bodyPr wrap="square">
            <a:normAutofit/>
          </a:bodyPr>
          <a:lstStyle/>
          <a:p>
            <a:r>
              <a:rPr sz="1000" b="0" i="0">
                <a:solidFill>
                  <a:srgbClr val="D7DDEA"/>
                </a:solidFill>
                <a:latin typeface="Segoe UI"/>
              </a:rPr>
              <a:t>How might we design a game that communicates its core loop — hold the city as long as possible, save as many people as you can — without a tutorial, so that a group of strangers can be mid-match within 60 seconds of someone opening a laptop?</a:t>
            </a:r>
          </a:p>
        </p:txBody>
      </p:sp>
      <p:sp>
        <p:nvSpPr>
          <p:cNvPr id="10" name="TextBox 9"/>
          <p:cNvSpPr txBox="1"/>
          <p:nvPr/>
        </p:nvSpPr>
        <p:spPr>
          <a:xfrm>
            <a:off x="548640" y="6263640"/>
            <a:ext cx="7863840" cy="228600"/>
          </a:xfrm>
          <a:prstGeom prst="rect">
            <a:avLst/>
          </a:prstGeom>
          <a:noFill/>
        </p:spPr>
        <p:txBody>
          <a:bodyPr wrap="square">
            <a:spAutoFit/>
          </a:bodyPr>
          <a:lstStyle/>
          <a:p>
            <a:r>
              <a:rPr sz="900" b="0" i="0">
                <a:solidFill>
                  <a:srgbClr val="77809A"/>
                </a:solidFill>
                <a:latin typeface="Segoe UI"/>
              </a:rPr>
              <a:t>Source: scenarios/social-session.md</a:t>
            </a:r>
          </a:p>
        </p:txBody>
      </p:sp>
      <p:sp>
        <p:nvSpPr>
          <p:cNvPr id="11" name="TextBox 10"/>
          <p:cNvSpPr txBox="1"/>
          <p:nvPr/>
        </p:nvSpPr>
        <p:spPr>
          <a:xfrm>
            <a:off x="9784080" y="6263640"/>
            <a:ext cx="1828800" cy="228600"/>
          </a:xfrm>
          <a:prstGeom prst="rect">
            <a:avLst/>
          </a:prstGeom>
          <a:noFill/>
        </p:spPr>
        <p:txBody>
          <a:bodyPr wrap="square">
            <a:spAutoFit/>
          </a:bodyPr>
          <a:lstStyle/>
          <a:p>
            <a:pPr algn="r"/>
            <a:r>
              <a:rPr sz="900" b="0" i="0">
                <a:solidFill>
                  <a:srgbClr val="77809A"/>
                </a:solidFill>
                <a:latin typeface="Segoe UI"/>
              </a:rPr>
              <a:t>2026-06-24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1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Commander Triage: Defense vs. Evacuation</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Description</a:t>
            </a:r>
          </a:p>
        </p:txBody>
      </p:sp>
      <p:sp>
        <p:nvSpPr>
          <p:cNvPr id="5" name="TextBox 4"/>
          <p:cNvSpPr txBox="1"/>
          <p:nvPr/>
        </p:nvSpPr>
        <p:spPr>
          <a:xfrm>
            <a:off x="548640" y="2468880"/>
            <a:ext cx="10972800" cy="731520"/>
          </a:xfrm>
          <a:prstGeom prst="rect">
            <a:avLst/>
          </a:prstGeom>
          <a:noFill/>
        </p:spPr>
        <p:txBody>
          <a:bodyPr wrap="square">
            <a:normAutofit/>
          </a:bodyPr>
          <a:lstStyle/>
          <a:p>
            <a:r>
              <a:rPr sz="1000" b="0" i="0">
                <a:solidFill>
                  <a:srgbClr val="D7DDEA"/>
                </a:solidFill>
                <a:latin typeface="Segoe UI"/>
              </a:rPr>
              <a:t>The Incident Commander manages two competing priorities in real time: dispatching defensive assets to slow kaiju advancement and triggering rocket launches to evacuate humans. Every decision has an opportunity cost.</a:t>
            </a:r>
          </a:p>
        </p:txBody>
      </p:sp>
      <p:sp>
        <p:nvSpPr>
          <p:cNvPr id="6" name="TextBox 5"/>
          <p:cNvSpPr txBox="1"/>
          <p:nvPr/>
        </p:nvSpPr>
        <p:spPr>
          <a:xfrm>
            <a:off x="548640" y="3291840"/>
            <a:ext cx="10972800" cy="365760"/>
          </a:xfrm>
          <a:prstGeom prst="rect">
            <a:avLst/>
          </a:prstGeom>
          <a:noFill/>
        </p:spPr>
        <p:txBody>
          <a:bodyPr wrap="square">
            <a:spAutoFit/>
          </a:bodyPr>
          <a:lstStyle/>
          <a:p>
            <a:r>
              <a:rPr sz="1200" b="1" i="0">
                <a:solidFill>
                  <a:srgbClr val="4DA3FF"/>
                </a:solidFill>
                <a:latin typeface="Segoe UI"/>
              </a:rPr>
              <a:t>Overview</a:t>
            </a:r>
          </a:p>
        </p:txBody>
      </p:sp>
      <p:sp>
        <p:nvSpPr>
          <p:cNvPr id="7" name="TextBox 6"/>
          <p:cNvSpPr txBox="1"/>
          <p:nvPr/>
        </p:nvSpPr>
        <p:spPr>
          <a:xfrm>
            <a:off x="548640" y="3749039"/>
            <a:ext cx="10972800" cy="731520"/>
          </a:xfrm>
          <a:prstGeom prst="rect">
            <a:avLst/>
          </a:prstGeom>
          <a:noFill/>
        </p:spPr>
        <p:txBody>
          <a:bodyPr wrap="square">
            <a:normAutofit/>
          </a:bodyPr>
          <a:lstStyle/>
          <a:p>
            <a:r>
              <a:rPr sz="1000" b="0" i="0">
                <a:solidFill>
                  <a:srgbClr val="D7DDEA"/>
                </a:solidFill>
                <a:latin typeface="Segoe UI"/>
              </a:rPr>
              <a:t>During a 90-second match, the Commander operates a dashboard showing leviathan positions, asset availability, and rocket launch readiness. They must continuously decide whether to spend their action window on a defensive dispatch (slow a kaiju, reduce base damage) or a rocket launch (bank evacuees directly). Kaiju threatening the launch site may suppress or cancel an in-progress launch, forcing the Commander to clear threats first.</a:t>
            </a:r>
          </a:p>
        </p:txBody>
      </p:sp>
      <p:sp>
        <p:nvSpPr>
          <p:cNvPr id="8" name="TextBox 7"/>
          <p:cNvSpPr txBox="1"/>
          <p:nvPr/>
        </p:nvSpPr>
        <p:spPr>
          <a:xfrm>
            <a:off x="548640" y="4572000"/>
            <a:ext cx="10972800" cy="365760"/>
          </a:xfrm>
          <a:prstGeom prst="rect">
            <a:avLst/>
          </a:prstGeom>
          <a:noFill/>
        </p:spPr>
        <p:txBody>
          <a:bodyPr wrap="square">
            <a:spAutoFit/>
          </a:bodyPr>
          <a:lstStyle/>
          <a:p>
            <a:r>
              <a:rPr sz="1200" b="1" i="0">
                <a:solidFill>
                  <a:srgbClr val="4DA3FF"/>
                </a:solidFill>
                <a:latin typeface="Segoe UI"/>
              </a:rPr>
              <a:t>Business Value</a:t>
            </a:r>
          </a:p>
        </p:txBody>
      </p:sp>
      <p:sp>
        <p:nvSpPr>
          <p:cNvPr id="9" name="TextBox 8"/>
          <p:cNvSpPr txBox="1"/>
          <p:nvPr/>
        </p:nvSpPr>
        <p:spPr>
          <a:xfrm>
            <a:off x="548640" y="5029200"/>
            <a:ext cx="10972800" cy="822960"/>
          </a:xfrm>
          <a:prstGeom prst="rect">
            <a:avLst/>
          </a:prstGeom>
          <a:noFill/>
        </p:spPr>
        <p:txBody>
          <a:bodyPr wrap="square">
            <a:normAutofit/>
          </a:bodyPr>
          <a:lstStyle/>
          <a:p>
            <a:r>
              <a:rPr sz="1000" b="0" i="0">
                <a:solidFill>
                  <a:srgbClr val="D7DDEA"/>
                </a:solidFill>
                <a:latin typeface="Segoe UI"/>
              </a:rPr>
              <a:t>This is the game's core design tension. Without a genuine tradeoff between defense and evacuation, the Commander's role collapses into one-dimensional button-pressing. The dual-priority loop is what makes the Commander feel like an incident commander rather than a tower defense operator.</a:t>
            </a:r>
          </a:p>
        </p:txBody>
      </p:sp>
      <p:sp>
        <p:nvSpPr>
          <p:cNvPr id="10" name="TextBox 9"/>
          <p:cNvSpPr txBox="1"/>
          <p:nvPr/>
        </p:nvSpPr>
        <p:spPr>
          <a:xfrm>
            <a:off x="548640" y="5943600"/>
            <a:ext cx="10972800" cy="320040"/>
          </a:xfrm>
          <a:prstGeom prst="rect">
            <a:avLst/>
          </a:prstGeom>
          <a:noFill/>
        </p:spPr>
        <p:txBody>
          <a:bodyPr wrap="square">
            <a:spAutoFit/>
          </a:bodyPr>
          <a:lstStyle/>
          <a:p>
            <a:r>
              <a:rPr sz="800" b="0" i="0">
                <a:solidFill>
                  <a:srgbClr val="77809A"/>
                </a:solidFill>
                <a:latin typeface="Segoe UI"/>
              </a:rPr>
              <a:t>Source: use-cases/commander-triage.md | 2026-06-24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2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Commander Triage: Defense vs. Evacuation</a:t>
            </a:r>
          </a:p>
        </p:txBody>
      </p:sp>
      <p:sp>
        <p:nvSpPr>
          <p:cNvPr id="4" name="TextBox 3"/>
          <p:cNvSpPr txBox="1"/>
          <p:nvPr/>
        </p:nvSpPr>
        <p:spPr>
          <a:xfrm>
            <a:off x="548640" y="2011680"/>
            <a:ext cx="5303520" cy="365760"/>
          </a:xfrm>
          <a:prstGeom prst="rect">
            <a:avLst/>
          </a:prstGeom>
          <a:noFill/>
        </p:spPr>
        <p:txBody>
          <a:bodyPr wrap="square">
            <a:spAutoFit/>
          </a:bodyPr>
          <a:lstStyle/>
          <a:p>
            <a:r>
              <a:rPr sz="1200" b="1" i="0">
                <a:solidFill>
                  <a:srgbClr val="4DA3FF"/>
                </a:solidFill>
                <a:latin typeface="Segoe UI"/>
              </a:rPr>
              <a:t>Primary User</a:t>
            </a:r>
          </a:p>
        </p:txBody>
      </p:sp>
      <p:sp>
        <p:nvSpPr>
          <p:cNvPr id="5" name="TextBox 4"/>
          <p:cNvSpPr txBox="1"/>
          <p:nvPr/>
        </p:nvSpPr>
        <p:spPr>
          <a:xfrm>
            <a:off x="548640" y="2468880"/>
            <a:ext cx="5303520" cy="640080"/>
          </a:xfrm>
          <a:prstGeom prst="rect">
            <a:avLst/>
          </a:prstGeom>
          <a:noFill/>
        </p:spPr>
        <p:txBody>
          <a:bodyPr wrap="square">
            <a:normAutofit/>
          </a:bodyPr>
          <a:lstStyle/>
          <a:p>
            <a:r>
              <a:rPr sz="1000" b="0" i="0">
                <a:solidFill>
                  <a:srgbClr val="D7DDEA"/>
                </a:solidFill>
                <a:latin typeface="Segoe UI"/>
              </a:rPr>
              <a:t>The Incident Commander — solo player, no respawns, full match duration.</a:t>
            </a:r>
          </a:p>
        </p:txBody>
      </p:sp>
      <p:sp>
        <p:nvSpPr>
          <p:cNvPr id="6" name="TextBox 5"/>
          <p:cNvSpPr txBox="1"/>
          <p:nvPr/>
        </p:nvSpPr>
        <p:spPr>
          <a:xfrm>
            <a:off x="6035040" y="2011680"/>
            <a:ext cx="5303520" cy="365760"/>
          </a:xfrm>
          <a:prstGeom prst="rect">
            <a:avLst/>
          </a:prstGeom>
          <a:noFill/>
        </p:spPr>
        <p:txBody>
          <a:bodyPr wrap="square">
            <a:spAutoFit/>
          </a:bodyPr>
          <a:lstStyle/>
          <a:p>
            <a:r>
              <a:rPr sz="1200" b="1" i="0">
                <a:solidFill>
                  <a:srgbClr val="4DA3FF"/>
                </a:solidFill>
                <a:latin typeface="Segoe UI"/>
              </a:rPr>
              <a:t>Secondary User</a:t>
            </a:r>
          </a:p>
        </p:txBody>
      </p:sp>
      <p:sp>
        <p:nvSpPr>
          <p:cNvPr id="7" name="TextBox 6"/>
          <p:cNvSpPr txBox="1"/>
          <p:nvPr/>
        </p:nvSpPr>
        <p:spPr>
          <a:xfrm>
            <a:off x="6035040" y="2468880"/>
            <a:ext cx="5303520" cy="640080"/>
          </a:xfrm>
          <a:prstGeom prst="rect">
            <a:avLst/>
          </a:prstGeom>
          <a:noFill/>
        </p:spPr>
        <p:txBody>
          <a:bodyPr wrap="square">
            <a:normAutofit/>
          </a:bodyPr>
          <a:lstStyle/>
          <a:p>
            <a:r>
              <a:rPr sz="1000" b="0" i="0">
                <a:solidFill>
                  <a:srgbClr val="D7DDEA"/>
                </a:solidFill>
                <a:latin typeface="Segoe UI"/>
              </a:rPr>
              <a:t>Kaiju players — their aggression directly drives the urgency of the Commander's decisions. Spectators — watching the Commander's triage choices is part of the social experience.</a:t>
            </a:r>
          </a:p>
        </p:txBody>
      </p:sp>
      <p:sp>
        <p:nvSpPr>
          <p:cNvPr id="8" name="TextBox 7"/>
          <p:cNvSpPr txBox="1"/>
          <p:nvPr/>
        </p:nvSpPr>
        <p:spPr>
          <a:xfrm>
            <a:off x="548640" y="3200400"/>
            <a:ext cx="10972800" cy="365760"/>
          </a:xfrm>
          <a:prstGeom prst="rect">
            <a:avLst/>
          </a:prstGeom>
          <a:noFill/>
        </p:spPr>
        <p:txBody>
          <a:bodyPr wrap="square">
            <a:spAutoFit/>
          </a:bodyPr>
          <a:lstStyle/>
          <a:p>
            <a:r>
              <a:rPr sz="1200" b="1" i="0">
                <a:solidFill>
                  <a:srgbClr val="4DA3FF"/>
                </a:solidFill>
                <a:latin typeface="Segoe UI"/>
              </a:rPr>
              <a:t>Preconditions</a:t>
            </a:r>
          </a:p>
        </p:txBody>
      </p:sp>
      <p:sp>
        <p:nvSpPr>
          <p:cNvPr id="9" name="TextBox 8"/>
          <p:cNvSpPr txBox="1"/>
          <p:nvPr/>
        </p:nvSpPr>
        <p:spPr>
          <a:xfrm>
            <a:off x="548640" y="3657600"/>
            <a:ext cx="10972800" cy="548640"/>
          </a:xfrm>
          <a:prstGeom prst="rect">
            <a:avLst/>
          </a:prstGeom>
          <a:noFill/>
        </p:spPr>
        <p:txBody>
          <a:bodyPr wrap="square">
            <a:normAutofit/>
          </a:bodyPr>
          <a:lstStyle/>
          <a:p>
            <a:pPr marL="228600" indent="-228600">
              <a:buChar char="•"/>
            </a:pPr>
            <a:r>
              <a:rPr sz="1000" b="0" i="0">
                <a:solidFill>
                  <a:srgbClr val="D7DDEA"/>
                </a:solidFill>
                <a:latin typeface="Segoe UI"/>
              </a:rPr>
              <a:t>Match has started; at least one kaiju is active and advancing</a:t>
            </a:r>
          </a:p>
          <a:p>
            <a:pPr marL="228600" indent="-228600">
              <a:buChar char="•"/>
            </a:pPr>
            <a:r>
              <a:rPr sz="1000" b="0" i="0">
                <a:solidFill>
                  <a:srgbClr val="D7DDEA"/>
                </a:solidFill>
                <a:latin typeface="Segoe UI"/>
              </a:rPr>
              <a:t>Commander dashboard is live with asset economy and rocket launch UI visible</a:t>
            </a:r>
          </a:p>
          <a:p>
            <a:pPr marL="228600" indent="-228600">
              <a:buChar char="•"/>
            </a:pPr>
            <a:r>
              <a:rPr sz="1000" b="0" i="0">
                <a:solidFill>
                  <a:srgbClr val="D7DDEA"/>
                </a:solidFill>
                <a:latin typeface="Segoe UI"/>
              </a:rPr>
              <a:t>City base HP is above zero</a:t>
            </a:r>
          </a:p>
        </p:txBody>
      </p:sp>
      <p:sp>
        <p:nvSpPr>
          <p:cNvPr id="10" name="TextBox 9"/>
          <p:cNvSpPr txBox="1"/>
          <p:nvPr/>
        </p:nvSpPr>
        <p:spPr>
          <a:xfrm>
            <a:off x="548640" y="4251960"/>
            <a:ext cx="10972800" cy="365760"/>
          </a:xfrm>
          <a:prstGeom prst="rect">
            <a:avLst/>
          </a:prstGeom>
          <a:noFill/>
        </p:spPr>
        <p:txBody>
          <a:bodyPr wrap="square">
            <a:spAutoFit/>
          </a:bodyPr>
          <a:lstStyle/>
          <a:p>
            <a:r>
              <a:rPr sz="1200" b="1" i="0">
                <a:solidFill>
                  <a:srgbClr val="4DA3FF"/>
                </a:solidFill>
                <a:latin typeface="Segoe UI"/>
              </a:rPr>
              <a:t>Steps</a:t>
            </a:r>
          </a:p>
        </p:txBody>
      </p:sp>
      <p:sp>
        <p:nvSpPr>
          <p:cNvPr id="11" name="TextBox 10"/>
          <p:cNvSpPr txBox="1"/>
          <p:nvPr/>
        </p:nvSpPr>
        <p:spPr>
          <a:xfrm>
            <a:off x="548640" y="4663440"/>
            <a:ext cx="10972800" cy="822960"/>
          </a:xfrm>
          <a:prstGeom prst="rect">
            <a:avLst/>
          </a:prstGeom>
          <a:noFill/>
        </p:spPr>
        <p:txBody>
          <a:bodyPr wrap="square">
            <a:normAutofit/>
          </a:bodyPr>
          <a:lstStyle/>
          <a:p>
            <a:pPr marL="228600" indent="-228600">
              <a:buAutoNum type="arabicPeriod" startAt="1"/>
            </a:pPr>
            <a:r>
              <a:rPr sz="1000" b="0" i="0">
                <a:solidFill>
                  <a:srgbClr val="D7DDEA"/>
                </a:solidFill>
                <a:latin typeface="Segoe UI"/>
              </a:rPr>
              <a:t>Commander scans `CommandMap` for active leviathan positions and base threat level</a:t>
            </a:r>
          </a:p>
          <a:p>
            <a:pPr marL="228600" indent="-228600">
              <a:buAutoNum type="arabicPeriod" startAt="2"/>
            </a:pPr>
            <a:r>
              <a:rPr sz="1000" b="0" i="0">
                <a:solidFill>
                  <a:srgbClr val="D7DDEA"/>
                </a:solidFill>
                <a:latin typeface="Segoe UI"/>
              </a:rPr>
              <a:t>Commander assesses asset availability in `DispatchPanel`</a:t>
            </a:r>
          </a:p>
          <a:p>
            <a:pPr marL="228600" indent="-228600">
              <a:buAutoNum type="arabicPeriod" startAt="3"/>
            </a:pPr>
            <a:r>
              <a:rPr sz="1000" b="0" i="0">
                <a:solidFill>
                  <a:srgbClr val="D7DDEA"/>
                </a:solidFill>
                <a:latin typeface="Segoe UI"/>
              </a:rPr>
              <a:t>Commander evaluates rocket launch readiness (cooldown / launch window)</a:t>
            </a:r>
          </a:p>
          <a:p>
            <a:pPr marL="228600" indent="-228600">
              <a:buAutoNum type="arabicPeriod" startAt="4"/>
            </a:pPr>
            <a:r>
              <a:rPr sz="1000" b="0" i="0">
                <a:solidFill>
                  <a:srgbClr val="D7DDEA"/>
                </a:solidFill>
                <a:latin typeface="Segoe UI"/>
              </a:rPr>
              <a:t>Commander decides: dispatch defensive asset targeting a specific leviathan, OR trigger a rocket launch</a:t>
            </a:r>
          </a:p>
          <a:p>
            <a:pPr marL="228600" indent="-228600">
              <a:buAutoNum type="arabicPeriod" startAt="5"/>
            </a:pPr>
            <a:r>
              <a:rPr sz="1000" b="0" i="0">
                <a:solidFill>
                  <a:srgbClr val="D7DDEA"/>
                </a:solidFill>
                <a:latin typeface="Segoe UI"/>
              </a:rPr>
              <a:t>If dispatching: selects leviathan, selects asset; `CommandRecord` queues with 1–5s resolution delay</a:t>
            </a:r>
          </a:p>
          <a:p>
            <a:pPr marL="228600" indent="-228600">
              <a:buAutoNum type="arabicPeriod" startAt="6"/>
            </a:pPr>
            <a:r>
              <a:rPr sz="1000" b="0" i="0">
                <a:solidFill>
                  <a:srgbClr val="D7DDEA"/>
                </a:solidFill>
                <a:latin typeface="Segoe UI"/>
              </a:rPr>
              <a:t>If launching: triggers launch; spool-up window begins; `SignalFeed` confirms launch queued</a:t>
            </a:r>
          </a:p>
          <a:p>
            <a:pPr marL="228600" indent="-228600">
              <a:buAutoNum type="arabicPeriod" startAt="7"/>
            </a:pPr>
            <a:r>
              <a:rPr sz="1000" b="0" i="0">
                <a:solidFill>
                  <a:srgbClr val="D7DDEA"/>
                </a:solidFill>
                <a:latin typeface="Segoe UI"/>
              </a:rPr>
              <a:t>`SignalFeed` reports resolution outcome (success / partial / failed / unverified) for dispatches</a:t>
            </a:r>
          </a:p>
          <a:p>
            <a:pPr marL="228600" indent="-228600">
              <a:buAutoNum type="arabicPeriod" startAt="8"/>
            </a:pPr>
            <a:r>
              <a:rPr sz="1000" b="0" i="0">
                <a:solidFill>
                  <a:srgbClr val="D7DDEA"/>
                </a:solidFill>
                <a:latin typeface="Segoe UI"/>
              </a:rPr>
              <a:t>Evacuation count increments on successful launch; Commander sees updated score</a:t>
            </a:r>
          </a:p>
          <a:p>
            <a:pPr marL="228600" indent="-228600">
              <a:buAutoNum type="arabicPeriod" startAt="9"/>
            </a:pPr>
            <a:r>
              <a:rPr sz="1000" b="0" i="0">
                <a:solidFill>
                  <a:srgbClr val="D7DDEA"/>
                </a:solidFill>
                <a:latin typeface="Segoe UI"/>
              </a:rPr>
              <a:t>Loop repeats until city base HP reaches 0 or 90 seconds elapses</a:t>
            </a:r>
          </a:p>
        </p:txBody>
      </p:sp>
      <p:sp>
        <p:nvSpPr>
          <p:cNvPr id="12" name="TextBox 11"/>
          <p:cNvSpPr txBox="1"/>
          <p:nvPr/>
        </p:nvSpPr>
        <p:spPr>
          <a:xfrm>
            <a:off x="548640" y="5532120"/>
            <a:ext cx="10972800" cy="365760"/>
          </a:xfrm>
          <a:prstGeom prst="rect">
            <a:avLst/>
          </a:prstGeom>
          <a:noFill/>
        </p:spPr>
        <p:txBody>
          <a:bodyPr wrap="square">
            <a:spAutoFit/>
          </a:bodyPr>
          <a:lstStyle/>
          <a:p>
            <a:r>
              <a:rPr sz="1200" b="1" i="0">
                <a:solidFill>
                  <a:srgbClr val="4DA3FF"/>
                </a:solidFill>
                <a:latin typeface="Segoe UI"/>
              </a:rPr>
              <a:t>Data Requirements</a:t>
            </a:r>
          </a:p>
        </p:txBody>
      </p:sp>
      <p:sp>
        <p:nvSpPr>
          <p:cNvPr id="13" name="TextBox 12"/>
          <p:cNvSpPr txBox="1"/>
          <p:nvPr/>
        </p:nvSpPr>
        <p:spPr>
          <a:xfrm>
            <a:off x="548640" y="5897880"/>
            <a:ext cx="10972800" cy="320040"/>
          </a:xfrm>
          <a:prstGeom prst="rect">
            <a:avLst/>
          </a:prstGeom>
          <a:noFill/>
        </p:spPr>
        <p:txBody>
          <a:bodyPr wrap="square">
            <a:normAutofit/>
          </a:bodyPr>
          <a:lstStyle/>
          <a:p>
            <a:pPr marL="228600" indent="-228600">
              <a:buChar char="•"/>
            </a:pPr>
            <a:r>
              <a:rPr sz="1000" b="0" i="0">
                <a:solidFill>
                  <a:srgbClr val="D7DDEA"/>
                </a:solidFill>
                <a:latin typeface="Segoe UI"/>
              </a:rPr>
              <a:t>Real-time leviathan positions, HP, and status</a:t>
            </a:r>
          </a:p>
          <a:p>
            <a:pPr marL="228600" indent="-228600">
              <a:buChar char="•"/>
            </a:pPr>
            <a:r>
              <a:rPr sz="1000" b="0" i="0">
                <a:solidFill>
                  <a:srgbClr val="D7DDEA"/>
                </a:solidFill>
                <a:latin typeface="Segoe UI"/>
              </a:rPr>
              <a:t>Asset availability and cooldown state</a:t>
            </a:r>
          </a:p>
          <a:p>
            <a:pPr marL="228600" indent="-228600">
              <a:buChar char="•"/>
            </a:pPr>
            <a:r>
              <a:rPr sz="1000" b="0" i="0">
                <a:solidFill>
                  <a:srgbClr val="D7DDEA"/>
                </a:solidFill>
                <a:latin typeface="Segoe UI"/>
              </a:rPr>
              <a:t>Rocket launch readiness and cooldown</a:t>
            </a:r>
          </a:p>
          <a:p>
            <a:pPr marL="228600" indent="-228600">
              <a:buChar char="•"/>
            </a:pPr>
            <a:r>
              <a:rPr sz="1000" b="0" i="0">
                <a:solidFill>
                  <a:srgbClr val="D7DDEA"/>
                </a:solidFill>
                <a:latin typeface="Segoe UI"/>
              </a:rPr>
              <a:t>City base HP</a:t>
            </a:r>
          </a:p>
          <a:p>
            <a:pPr marL="228600" indent="-228600">
              <a:buChar char="•"/>
            </a:pPr>
            <a:r>
              <a:rPr sz="1000" b="0" i="0">
                <a:solidFill>
                  <a:srgbClr val="D7DDEA"/>
                </a:solidFill>
                <a:latin typeface="Segoe UI"/>
              </a:rPr>
              <a:t>Current evacuation count / score</a:t>
            </a:r>
          </a:p>
          <a:p>
            <a:pPr marL="228600" indent="-228600">
              <a:buChar char="•"/>
            </a:pPr>
            <a:r>
              <a:rPr sz="1000" b="0" i="0">
                <a:solidFill>
                  <a:srgbClr val="D7DDEA"/>
                </a:solidFill>
                <a:latin typeface="Segoe UI"/>
              </a:rPr>
              <a:t>`SignalFeed` event stream for resolution feedback</a:t>
            </a:r>
          </a:p>
        </p:txBody>
      </p:sp>
      <p:sp>
        <p:nvSpPr>
          <p:cNvPr id="14" name="TextBox 13"/>
          <p:cNvSpPr txBox="1"/>
          <p:nvPr/>
        </p:nvSpPr>
        <p:spPr>
          <a:xfrm>
            <a:off x="548640" y="6309360"/>
            <a:ext cx="7863840" cy="228600"/>
          </a:xfrm>
          <a:prstGeom prst="rect">
            <a:avLst/>
          </a:prstGeom>
          <a:noFill/>
        </p:spPr>
        <p:txBody>
          <a:bodyPr wrap="square">
            <a:spAutoFit/>
          </a:bodyPr>
          <a:lstStyle/>
          <a:p>
            <a:r>
              <a:rPr sz="900" b="0" i="0">
                <a:solidFill>
                  <a:srgbClr val="77809A"/>
                </a:solidFill>
                <a:latin typeface="Segoe UI"/>
              </a:rPr>
              <a:t>Source: use-cases/commander-triage.md</a:t>
            </a:r>
          </a:p>
        </p:txBody>
      </p:sp>
      <p:sp>
        <p:nvSpPr>
          <p:cNvPr id="15" name="TextBox 14"/>
          <p:cNvSpPr txBox="1"/>
          <p:nvPr/>
        </p:nvSpPr>
        <p:spPr>
          <a:xfrm>
            <a:off x="9784080" y="6309360"/>
            <a:ext cx="1737360" cy="228600"/>
          </a:xfrm>
          <a:prstGeom prst="rect">
            <a:avLst/>
          </a:prstGeom>
          <a:noFill/>
        </p:spPr>
        <p:txBody>
          <a:bodyPr wrap="square">
            <a:spAutoFit/>
          </a:bodyPr>
          <a:lstStyle/>
          <a:p>
            <a:r>
              <a:rPr sz="900" b="0" i="0">
                <a:solidFill>
                  <a:srgbClr val="77809A"/>
                </a:solidFill>
                <a:latin typeface="Segoe UI"/>
              </a:rPr>
              <a:t>Last Updated: 2026-06-24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3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Commander Triage: Defense vs. Evacuation</a:t>
            </a:r>
          </a:p>
        </p:txBody>
      </p:sp>
      <p:sp>
        <p:nvSpPr>
          <p:cNvPr id="4" name="TextBox 3"/>
          <p:cNvSpPr txBox="1"/>
          <p:nvPr/>
        </p:nvSpPr>
        <p:spPr>
          <a:xfrm>
            <a:off x="548640" y="2011680"/>
            <a:ext cx="5303520" cy="365760"/>
          </a:xfrm>
          <a:prstGeom prst="rect">
            <a:avLst/>
          </a:prstGeom>
          <a:noFill/>
        </p:spPr>
        <p:txBody>
          <a:bodyPr wrap="square">
            <a:spAutoFit/>
          </a:bodyPr>
          <a:lstStyle/>
          <a:p>
            <a:r>
              <a:rPr sz="1200" b="1" i="0">
                <a:solidFill>
                  <a:srgbClr val="4DA3FF"/>
                </a:solidFill>
                <a:latin typeface="Segoe UI"/>
              </a:rPr>
              <a:t>Equipment Requirements</a:t>
            </a:r>
          </a:p>
        </p:txBody>
      </p:sp>
      <p:sp>
        <p:nvSpPr>
          <p:cNvPr id="5" name="TextBox 4"/>
          <p:cNvSpPr txBox="1"/>
          <p:nvPr/>
        </p:nvSpPr>
        <p:spPr>
          <a:xfrm>
            <a:off x="6035040" y="2011680"/>
            <a:ext cx="5303520" cy="365760"/>
          </a:xfrm>
          <a:prstGeom prst="rect">
            <a:avLst/>
          </a:prstGeom>
          <a:noFill/>
        </p:spPr>
        <p:txBody>
          <a:bodyPr wrap="square">
            <a:spAutoFit/>
          </a:bodyPr>
          <a:lstStyle/>
          <a:p>
            <a:r>
              <a:rPr sz="1200" b="1" i="0">
                <a:solidFill>
                  <a:srgbClr val="4DA3FF"/>
                </a:solidFill>
                <a:latin typeface="Segoe UI"/>
              </a:rPr>
              <a:t>Operating Environment</a:t>
            </a:r>
          </a:p>
        </p:txBody>
      </p:sp>
      <p:sp>
        <p:nvSpPr>
          <p:cNvPr id="6" name="TextBox 5"/>
          <p:cNvSpPr txBox="1"/>
          <p:nvPr/>
        </p:nvSpPr>
        <p:spPr>
          <a:xfrm>
            <a:off x="548640" y="2468880"/>
            <a:ext cx="5303520" cy="548640"/>
          </a:xfrm>
          <a:prstGeom prst="rect">
            <a:avLst/>
          </a:prstGeom>
          <a:noFill/>
        </p:spPr>
        <p:txBody>
          <a:bodyPr wrap="square">
            <a:normAutofit/>
          </a:bodyPr>
          <a:lstStyle/>
          <a:p>
            <a:pPr marL="228600" indent="-228600">
              <a:buChar char="•"/>
            </a:pPr>
            <a:r>
              <a:rPr sz="1000" b="0" i="0">
                <a:solidFill>
                  <a:srgbClr val="D7DDEA"/>
                </a:solidFill>
                <a:latin typeface="Segoe UI"/>
              </a:rPr>
              <a:t>Commander: laptop or desktop with the dashboard open in a browser</a:t>
            </a:r>
          </a:p>
          <a:p>
            <a:pPr marL="228600" indent="-228600">
              <a:buChar char="•"/>
            </a:pPr>
            <a:r>
              <a:rPr sz="1000" b="0" i="0">
                <a:solidFill>
                  <a:srgbClr val="D7DDEA"/>
                </a:solidFill>
                <a:latin typeface="Segoe UI"/>
              </a:rPr>
              <a:t>Network: local Wi-Fi or hotspot; all players on the same session via room code</a:t>
            </a:r>
          </a:p>
        </p:txBody>
      </p:sp>
      <p:sp>
        <p:nvSpPr>
          <p:cNvPr id="7" name="TextBox 6"/>
          <p:cNvSpPr txBox="1"/>
          <p:nvPr/>
        </p:nvSpPr>
        <p:spPr>
          <a:xfrm>
            <a:off x="6035040" y="2468880"/>
            <a:ext cx="5303520" cy="548640"/>
          </a:xfrm>
          <a:prstGeom prst="rect">
            <a:avLst/>
          </a:prstGeom>
          <a:noFill/>
        </p:spPr>
        <p:txBody>
          <a:bodyPr wrap="square">
            <a:normAutofit/>
          </a:bodyPr>
          <a:lstStyle/>
          <a:p>
            <a:r>
              <a:rPr sz="1000" b="0" i="0">
                <a:solidFill>
                  <a:srgbClr val="D7DDEA"/>
                </a:solidFill>
                <a:latin typeface="Segoe UI"/>
              </a:rPr>
              <a:t>Co-located social setting — bar, home, event space. Ambient noise is expected and normal. Commander screen may be visible to spectators. Match duration is 90 seconds; the environment should support rapid round turnover.</a:t>
            </a:r>
          </a:p>
        </p:txBody>
      </p:sp>
      <p:sp>
        <p:nvSpPr>
          <p:cNvPr id="8" name="TextBox 7"/>
          <p:cNvSpPr txBox="1"/>
          <p:nvPr/>
        </p:nvSpPr>
        <p:spPr>
          <a:xfrm>
            <a:off x="548640" y="3200400"/>
            <a:ext cx="10972800" cy="365760"/>
          </a:xfrm>
          <a:prstGeom prst="rect">
            <a:avLst/>
          </a:prstGeom>
          <a:noFill/>
        </p:spPr>
        <p:txBody>
          <a:bodyPr wrap="square">
            <a:spAutoFit/>
          </a:bodyPr>
          <a:lstStyle/>
          <a:p>
            <a:r>
              <a:rPr sz="1200" b="1" i="0">
                <a:solidFill>
                  <a:srgbClr val="4DA3FF"/>
                </a:solidFill>
                <a:latin typeface="Segoe UI"/>
              </a:rPr>
              <a:t>Success Criteria</a:t>
            </a:r>
          </a:p>
        </p:txBody>
      </p:sp>
      <p:sp>
        <p:nvSpPr>
          <p:cNvPr id="9" name="TextBox 8"/>
          <p:cNvSpPr txBox="1"/>
          <p:nvPr/>
        </p:nvSpPr>
        <p:spPr>
          <a:xfrm>
            <a:off x="548640" y="3657600"/>
            <a:ext cx="10972800" cy="914400"/>
          </a:xfrm>
          <a:prstGeom prst="rect">
            <a:avLst/>
          </a:prstGeom>
          <a:noFill/>
        </p:spPr>
        <p:txBody>
          <a:bodyPr wrap="square">
            <a:normAutofit/>
          </a:bodyPr>
          <a:lstStyle/>
          <a:p>
            <a:pPr marL="228600" indent="-228600">
              <a:buChar char="•"/>
            </a:pPr>
            <a:r>
              <a:rPr sz="1000" b="0" i="0">
                <a:solidFill>
                  <a:srgbClr val="D7DDEA"/>
                </a:solidFill>
                <a:latin typeface="Segoe UI"/>
              </a:rPr>
              <a:t>Commander made at least one meaningful triage decision (chose launch over defense or vice versa) and can articulate why</a:t>
            </a:r>
          </a:p>
          <a:p>
            <a:pPr marL="228600" indent="-228600">
              <a:buChar char="•"/>
            </a:pPr>
            <a:r>
              <a:rPr sz="1000" b="0" i="0">
                <a:solidFill>
                  <a:srgbClr val="D7DDEA"/>
                </a:solidFill>
                <a:latin typeface="Segoe UI"/>
              </a:rPr>
              <a:t>Evacuation count reflects the Commander's choices — high score feels earned, not random</a:t>
            </a:r>
          </a:p>
          <a:p>
            <a:pPr marL="228600" indent="-228600">
              <a:buChar char="•"/>
            </a:pPr>
            <a:r>
              <a:rPr sz="1000" b="0" i="0">
                <a:solidFill>
                  <a:srgbClr val="D7DDEA"/>
                </a:solidFill>
                <a:latin typeface="Segoe UI"/>
              </a:rPr>
              <a:t>Commander wants to immediately play another round to improve their score</a:t>
            </a:r>
          </a:p>
        </p:txBody>
      </p:sp>
      <p:sp>
        <p:nvSpPr>
          <p:cNvPr id="10" name="TextBox 9"/>
          <p:cNvSpPr txBox="1"/>
          <p:nvPr/>
        </p:nvSpPr>
        <p:spPr>
          <a:xfrm>
            <a:off x="548640" y="4663440"/>
            <a:ext cx="10972800" cy="365760"/>
          </a:xfrm>
          <a:prstGeom prst="rect">
            <a:avLst/>
          </a:prstGeom>
          <a:noFill/>
        </p:spPr>
        <p:txBody>
          <a:bodyPr wrap="square">
            <a:spAutoFit/>
          </a:bodyPr>
          <a:lstStyle/>
          <a:p>
            <a:r>
              <a:rPr sz="1200" b="1" i="0">
                <a:solidFill>
                  <a:srgbClr val="4DA3FF"/>
                </a:solidFill>
                <a:latin typeface="Segoe UI"/>
              </a:rPr>
              <a:t>Pain Points</a:t>
            </a:r>
          </a:p>
        </p:txBody>
      </p:sp>
      <p:sp>
        <p:nvSpPr>
          <p:cNvPr id="11" name="TextBox 10"/>
          <p:cNvSpPr txBox="1"/>
          <p:nvPr/>
        </p:nvSpPr>
        <p:spPr>
          <a:xfrm>
            <a:off x="548640" y="5120640"/>
            <a:ext cx="10972800" cy="914400"/>
          </a:xfrm>
          <a:prstGeom prst="rect">
            <a:avLst/>
          </a:prstGeom>
          <a:noFill/>
        </p:spPr>
        <p:txBody>
          <a:bodyPr wrap="square">
            <a:normAutofit/>
          </a:bodyPr>
          <a:lstStyle/>
          <a:p>
            <a:pPr marL="228600" indent="-228600">
              <a:buChar char="•"/>
            </a:pPr>
            <a:r>
              <a:rPr sz="1000" b="0" i="0">
                <a:solidFill>
                  <a:srgbClr val="D7DDEA"/>
                </a:solidFill>
                <a:latin typeface="Segoe UI"/>
              </a:rPr>
              <a:t>If rocket launches are too easy (no risk, no constraint), the triage decision disappears</a:t>
            </a:r>
          </a:p>
          <a:p>
            <a:pPr marL="228600" indent="-228600">
              <a:buChar char="•"/>
            </a:pPr>
            <a:r>
              <a:rPr sz="1000" b="0" i="0">
                <a:solidFill>
                  <a:srgbClr val="D7DDEA"/>
                </a:solidFill>
                <a:latin typeface="Segoe UI"/>
              </a:rPr>
              <a:t>If the dashboard is too information-dense for a 90-second match, the Commander spends more time parsing than deciding</a:t>
            </a:r>
          </a:p>
          <a:p>
            <a:pPr marL="228600" indent="-228600">
              <a:buChar char="•"/>
            </a:pPr>
            <a:r>
              <a:rPr sz="1000" b="0" i="0">
                <a:solidFill>
                  <a:srgbClr val="D7DDEA"/>
                </a:solidFill>
                <a:latin typeface="Segoe UI"/>
              </a:rPr>
              <a:t>If `SignalFeed` resolution feedback is too slow or buried, the Commander can't learn from failed dispatches</a:t>
            </a:r>
          </a:p>
        </p:txBody>
      </p:sp>
      <p:sp>
        <p:nvSpPr>
          <p:cNvPr id="12" name="TextBox 11"/>
          <p:cNvSpPr txBox="1"/>
          <p:nvPr/>
        </p:nvSpPr>
        <p:spPr>
          <a:xfrm>
            <a:off x="548640" y="6126480"/>
            <a:ext cx="7863840" cy="228600"/>
          </a:xfrm>
          <a:prstGeom prst="rect">
            <a:avLst/>
          </a:prstGeom>
          <a:noFill/>
        </p:spPr>
        <p:txBody>
          <a:bodyPr wrap="square">
            <a:spAutoFit/>
          </a:bodyPr>
          <a:lstStyle/>
          <a:p>
            <a:r>
              <a:rPr sz="900" b="0" i="0">
                <a:solidFill>
                  <a:srgbClr val="77809A"/>
                </a:solidFill>
                <a:latin typeface="Segoe UI"/>
              </a:rPr>
              <a:t>Source: use-cases/commander-triage.md</a:t>
            </a:r>
          </a:p>
        </p:txBody>
      </p:sp>
      <p:sp>
        <p:nvSpPr>
          <p:cNvPr id="13" name="TextBox 12"/>
          <p:cNvSpPr txBox="1"/>
          <p:nvPr/>
        </p:nvSpPr>
        <p:spPr>
          <a:xfrm>
            <a:off x="9784080" y="6126480"/>
            <a:ext cx="1737360" cy="228600"/>
          </a:xfrm>
          <a:prstGeom prst="rect">
            <a:avLst/>
          </a:prstGeom>
          <a:noFill/>
        </p:spPr>
        <p:txBody>
          <a:bodyPr wrap="square">
            <a:spAutoFit/>
          </a:bodyPr>
          <a:lstStyle/>
          <a:p>
            <a:r>
              <a:rPr sz="900" b="0" i="0">
                <a:solidFill>
                  <a:srgbClr val="77809A"/>
                </a:solidFill>
                <a:latin typeface="Segoe UI"/>
              </a:rPr>
              <a:t>Last Updated: 2026-06-24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4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Commander Triage: Defense vs. Evacuation</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Extensions</a:t>
            </a:r>
          </a:p>
        </p:txBody>
      </p:sp>
      <p:sp>
        <p:nvSpPr>
          <p:cNvPr id="5" name="TextBox 4"/>
          <p:cNvSpPr txBox="1"/>
          <p:nvPr/>
        </p:nvSpPr>
        <p:spPr>
          <a:xfrm>
            <a:off x="548640" y="2468880"/>
            <a:ext cx="10972800" cy="2560320"/>
          </a:xfrm>
          <a:prstGeom prst="rect">
            <a:avLst/>
          </a:prstGeom>
          <a:noFill/>
        </p:spPr>
        <p:txBody>
          <a:bodyPr wrap="square">
            <a:normAutofit/>
          </a:bodyPr>
          <a:lstStyle/>
          <a:p>
            <a:pPr marL="228600" indent="-228600">
              <a:buChar char="•"/>
            </a:pPr>
            <a:r>
              <a:rPr sz="1000" b="0" i="0">
                <a:solidFill>
                  <a:srgbClr val="D7DDEA"/>
                </a:solidFill>
                <a:latin typeface="Segoe UI"/>
              </a:rPr>
              <a:t>**Launch site threatened**: a kaiju within attack range of the launch site suppresses the launch; Commander must dispatch a defensive asset first</a:t>
            </a:r>
          </a:p>
          <a:p>
            <a:pPr marL="228600" indent="-228600">
              <a:buChar char="•"/>
            </a:pPr>
            <a:r>
              <a:rPr sz="1000" b="0" i="0">
                <a:solidFill>
                  <a:srgbClr val="D7DDEA"/>
                </a:solidFill>
                <a:latin typeface="Segoe UI"/>
              </a:rPr>
              <a:t>**Multiple simultaneous kaiju breakthroughs**: Commander must triage which threat to address, accepting some base damage</a:t>
            </a:r>
          </a:p>
          <a:p>
            <a:pPr marL="228600" indent="-228600">
              <a:buChar char="•"/>
            </a:pPr>
            <a:r>
              <a:rPr sz="1000" b="0" i="0">
                <a:solidFill>
                  <a:srgbClr val="D7DDEA"/>
                </a:solidFill>
                <a:latin typeface="Segoe UI"/>
              </a:rPr>
              <a:t>**Final seconds**: with base HP critically low, Commander may abandon defense entirely and spam launches to maximize evacuation count before city falls</a:t>
            </a:r>
          </a:p>
        </p:txBody>
      </p:sp>
      <p:sp>
        <p:nvSpPr>
          <p:cNvPr id="6" name="TextBox 5"/>
          <p:cNvSpPr txBox="1"/>
          <p:nvPr/>
        </p:nvSpPr>
        <p:spPr>
          <a:xfrm>
            <a:off x="548640" y="5120640"/>
            <a:ext cx="10972800" cy="365760"/>
          </a:xfrm>
          <a:prstGeom prst="rect">
            <a:avLst/>
          </a:prstGeom>
          <a:noFill/>
        </p:spPr>
        <p:txBody>
          <a:bodyPr wrap="square">
            <a:spAutoFit/>
          </a:bodyPr>
          <a:lstStyle/>
          <a:p>
            <a:r>
              <a:rPr sz="1200" b="1" i="0">
                <a:solidFill>
                  <a:srgbClr val="4DA3FF"/>
                </a:solidFill>
                <a:latin typeface="Segoe UI"/>
              </a:rPr>
              <a:t>Evidence</a:t>
            </a:r>
          </a:p>
        </p:txBody>
      </p:sp>
      <p:sp>
        <p:nvSpPr>
          <p:cNvPr id="7" name="TextBox 6"/>
          <p:cNvSpPr txBox="1"/>
          <p:nvPr/>
        </p:nvSpPr>
        <p:spPr>
          <a:xfrm>
            <a:off x="548640" y="5577840"/>
            <a:ext cx="10972800" cy="640080"/>
          </a:xfrm>
          <a:prstGeom prst="rect">
            <a:avLst/>
          </a:prstGeom>
          <a:noFill/>
        </p:spPr>
        <p:txBody>
          <a:bodyPr wrap="square">
            <a:normAutofit/>
          </a:bodyPr>
          <a:lstStyle/>
          <a:p>
            <a:pPr marL="228600" indent="-228600">
              <a:buChar char="•"/>
            </a:pPr>
            <a:r>
              <a:rPr sz="1000" b="0" i="0">
                <a:solidFill>
                  <a:srgbClr val="D7DDEA"/>
                </a:solidFill>
                <a:latin typeface="Segoe UI"/>
              </a:rPr>
              <a:t>Source: Method 1 scope conversation (2026-06-23)</a:t>
            </a:r>
          </a:p>
          <a:p>
            <a:pPr marL="228600" indent="-228600">
              <a:buChar char="•"/>
            </a:pPr>
            <a:r>
              <a:rPr sz="1000" b="0" i="0">
                <a:solidFill>
                  <a:srgbClr val="D7DDEA"/>
                </a:solidFill>
                <a:latin typeface="Segoe UI"/>
              </a:rPr>
              <a:t>Rocket launches as active Commander mechanic confirmed in scope</a:t>
            </a:r>
          </a:p>
          <a:p>
            <a:pPr marL="228600" indent="-228600">
              <a:buChar char="•"/>
            </a:pPr>
            <a:r>
              <a:rPr sz="1000" b="0" i="0">
                <a:solidFill>
                  <a:srgbClr val="D7DDEA"/>
                </a:solidFill>
                <a:latin typeface="Segoe UI"/>
              </a:rPr>
              <a:t>Triage tension (defense vs. evacuation) identified as the game's core design heart</a:t>
            </a:r>
          </a:p>
          <a:p>
            <a:pPr marL="228600" indent="-228600">
              <a:buChar char="•"/>
            </a:pPr>
            <a:r>
              <a:rPr sz="1000" b="0" i="0">
                <a:solidFill>
                  <a:srgbClr val="D7DDEA"/>
                </a:solidFill>
                <a:latin typeface="Segoe UI"/>
              </a:rPr>
              <a:t>90-second match length confirmed as target</a:t>
            </a:r>
          </a:p>
        </p:txBody>
      </p:sp>
      <p:sp>
        <p:nvSpPr>
          <p:cNvPr id="8" name="TextBox 7"/>
          <p:cNvSpPr txBox="1"/>
          <p:nvPr/>
        </p:nvSpPr>
        <p:spPr>
          <a:xfrm>
            <a:off x="548640" y="6309360"/>
            <a:ext cx="7863840" cy="228600"/>
          </a:xfrm>
          <a:prstGeom prst="rect">
            <a:avLst/>
          </a:prstGeom>
          <a:noFill/>
        </p:spPr>
        <p:txBody>
          <a:bodyPr wrap="square">
            <a:spAutoFit/>
          </a:bodyPr>
          <a:lstStyle/>
          <a:p>
            <a:r>
              <a:rPr sz="900" b="0" i="0">
                <a:solidFill>
                  <a:srgbClr val="77809A"/>
                </a:solidFill>
                <a:latin typeface="Segoe UI"/>
              </a:rPr>
              <a:t>Source: use-cases/commander-triage.md</a:t>
            </a:r>
          </a:p>
        </p:txBody>
      </p:sp>
      <p:sp>
        <p:nvSpPr>
          <p:cNvPr id="9" name="TextBox 8"/>
          <p:cNvSpPr txBox="1"/>
          <p:nvPr/>
        </p:nvSpPr>
        <p:spPr>
          <a:xfrm>
            <a:off x="9784080" y="6309360"/>
            <a:ext cx="1737360" cy="228600"/>
          </a:xfrm>
          <a:prstGeom prst="rect">
            <a:avLst/>
          </a:prstGeom>
          <a:noFill/>
        </p:spPr>
        <p:txBody>
          <a:bodyPr wrap="square">
            <a:spAutoFit/>
          </a:bodyPr>
          <a:lstStyle/>
          <a:p>
            <a:r>
              <a:rPr sz="900" b="0" i="0">
                <a:solidFill>
                  <a:srgbClr val="77809A"/>
                </a:solidFill>
                <a:latin typeface="Segoe UI"/>
              </a:rPr>
              <a:t>Last Updated: 2026-06-24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1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Kaiju Combo Attack</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Description</a:t>
            </a:r>
          </a:p>
        </p:txBody>
      </p:sp>
      <p:sp>
        <p:nvSpPr>
          <p:cNvPr id="5" name="TextBox 4"/>
          <p:cNvSpPr txBox="1"/>
          <p:nvPr/>
        </p:nvSpPr>
        <p:spPr>
          <a:xfrm>
            <a:off x="548640" y="2468880"/>
            <a:ext cx="10972800" cy="731520"/>
          </a:xfrm>
          <a:prstGeom prst="rect">
            <a:avLst/>
          </a:prstGeom>
          <a:noFill/>
        </p:spPr>
        <p:txBody>
          <a:bodyPr wrap="square">
            <a:normAutofit/>
          </a:bodyPr>
          <a:lstStyle/>
          <a:p>
            <a:r>
              <a:rPr sz="1000" b="0" i="0">
                <a:solidFill>
                  <a:srgbClr val="D7DDEA"/>
                </a:solidFill>
                <a:latin typeface="Segoe UI"/>
              </a:rPr>
              <a:t>Two or more kaiju players coordinate their attacks in real time — verbally, in the room — to trigger a combo that amplifies damage beyond what any single kaiju could deal alone.</a:t>
            </a:r>
          </a:p>
        </p:txBody>
      </p:sp>
      <p:sp>
        <p:nvSpPr>
          <p:cNvPr id="6" name="TextBox 5"/>
          <p:cNvSpPr txBox="1"/>
          <p:nvPr/>
        </p:nvSpPr>
        <p:spPr>
          <a:xfrm>
            <a:off x="548640" y="3291840"/>
            <a:ext cx="10972800" cy="365760"/>
          </a:xfrm>
          <a:prstGeom prst="rect">
            <a:avLst/>
          </a:prstGeom>
          <a:noFill/>
        </p:spPr>
        <p:txBody>
          <a:bodyPr wrap="square">
            <a:spAutoFit/>
          </a:bodyPr>
          <a:lstStyle/>
          <a:p>
            <a:r>
              <a:rPr sz="1200" b="1" i="0">
                <a:solidFill>
                  <a:srgbClr val="4DA3FF"/>
                </a:solidFill>
                <a:latin typeface="Segoe UI"/>
              </a:rPr>
              <a:t>Overview</a:t>
            </a:r>
          </a:p>
        </p:txBody>
      </p:sp>
      <p:sp>
        <p:nvSpPr>
          <p:cNvPr id="7" name="TextBox 6"/>
          <p:cNvSpPr txBox="1"/>
          <p:nvPr/>
        </p:nvSpPr>
        <p:spPr>
          <a:xfrm>
            <a:off x="548640" y="3749039"/>
            <a:ext cx="10972800" cy="731520"/>
          </a:xfrm>
          <a:prstGeom prst="rect">
            <a:avLst/>
          </a:prstGeom>
          <a:noFill/>
        </p:spPr>
        <p:txBody>
          <a:bodyPr wrap="square">
            <a:normAutofit/>
          </a:bodyPr>
          <a:lstStyle/>
          <a:p>
            <a:r>
              <a:rPr sz="1000" b="0" i="0">
                <a:solidFill>
                  <a:srgbClr val="D7DDEA"/>
                </a:solidFill>
                <a:latin typeface="Segoe UI"/>
              </a:rPr>
              <a:t>During a match, kaiju players in the same physical space recognize an opportunity to combine their abilities. One player may have a buff/debuff ability active (e.g. Roar, Submerge), while another is positioned to strike the city base or a Commander asset. Without any in-game tutorial, the combo emerges from verbal negotiation: "I'm using Roar — everyone hit it now." The game detects the sequenced or simultaneous inputs and applies an amplified damage event.</a:t>
            </a:r>
          </a:p>
        </p:txBody>
      </p:sp>
      <p:sp>
        <p:nvSpPr>
          <p:cNvPr id="8" name="TextBox 7"/>
          <p:cNvSpPr txBox="1"/>
          <p:nvPr/>
        </p:nvSpPr>
        <p:spPr>
          <a:xfrm>
            <a:off x="548640" y="4572000"/>
            <a:ext cx="10972800" cy="365760"/>
          </a:xfrm>
          <a:prstGeom prst="rect">
            <a:avLst/>
          </a:prstGeom>
          <a:noFill/>
        </p:spPr>
        <p:txBody>
          <a:bodyPr wrap="square">
            <a:spAutoFit/>
          </a:bodyPr>
          <a:lstStyle/>
          <a:p>
            <a:r>
              <a:rPr sz="1200" b="1" i="0">
                <a:solidFill>
                  <a:srgbClr val="4DA3FF"/>
                </a:solidFill>
                <a:latin typeface="Segoe UI"/>
              </a:rPr>
              <a:t>Business Value</a:t>
            </a:r>
          </a:p>
        </p:txBody>
      </p:sp>
      <p:sp>
        <p:nvSpPr>
          <p:cNvPr id="9" name="TextBox 8"/>
          <p:cNvSpPr txBox="1"/>
          <p:nvPr/>
        </p:nvSpPr>
        <p:spPr>
          <a:xfrm>
            <a:off x="548640" y="5029200"/>
            <a:ext cx="10972800" cy="822960"/>
          </a:xfrm>
          <a:prstGeom prst="rect">
            <a:avLst/>
          </a:prstGeom>
          <a:noFill/>
        </p:spPr>
        <p:txBody>
          <a:bodyPr wrap="square">
            <a:normAutofit/>
          </a:bodyPr>
          <a:lstStyle/>
          <a:p>
            <a:r>
              <a:rPr sz="1000" b="0" i="0">
                <a:solidFill>
                  <a:srgbClr val="D7DDEA"/>
                </a:solidFill>
                <a:latin typeface="Segoe UI"/>
              </a:rPr>
              <a:t>Combo mechanics transform kaiju from independent attackers into a coordinated team without requiring complex UI or pre-game tutorials. They make the physical co-location of players a mechanical advantage — a feature that online play cannot replicate. Combos create the game's most memorable moments: the room erupts when one lands.</a:t>
            </a:r>
          </a:p>
        </p:txBody>
      </p:sp>
      <p:sp>
        <p:nvSpPr>
          <p:cNvPr id="10" name="TextBox 9"/>
          <p:cNvSpPr txBox="1"/>
          <p:nvPr/>
        </p:nvSpPr>
        <p:spPr>
          <a:xfrm>
            <a:off x="548640" y="5943600"/>
            <a:ext cx="10972800" cy="320040"/>
          </a:xfrm>
          <a:prstGeom prst="rect">
            <a:avLst/>
          </a:prstGeom>
          <a:noFill/>
        </p:spPr>
        <p:txBody>
          <a:bodyPr wrap="square">
            <a:spAutoFit/>
          </a:bodyPr>
          <a:lstStyle/>
          <a:p>
            <a:r>
              <a:rPr sz="800" b="0" i="0">
                <a:solidFill>
                  <a:srgbClr val="77809A"/>
                </a:solidFill>
                <a:latin typeface="Segoe UI"/>
              </a:rPr>
              <a:t>Source: use-cases/kaiju-combo.md | 2026-06-24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2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Kaiju Combo Attack</a:t>
            </a:r>
          </a:p>
        </p:txBody>
      </p:sp>
      <p:sp>
        <p:nvSpPr>
          <p:cNvPr id="4" name="TextBox 3"/>
          <p:cNvSpPr txBox="1"/>
          <p:nvPr/>
        </p:nvSpPr>
        <p:spPr>
          <a:xfrm>
            <a:off x="548640" y="2011680"/>
            <a:ext cx="5303520" cy="365760"/>
          </a:xfrm>
          <a:prstGeom prst="rect">
            <a:avLst/>
          </a:prstGeom>
          <a:noFill/>
        </p:spPr>
        <p:txBody>
          <a:bodyPr wrap="square">
            <a:spAutoFit/>
          </a:bodyPr>
          <a:lstStyle/>
          <a:p>
            <a:r>
              <a:rPr sz="1200" b="1" i="0">
                <a:solidFill>
                  <a:srgbClr val="4DA3FF"/>
                </a:solidFill>
                <a:latin typeface="Segoe UI"/>
              </a:rPr>
              <a:t>Primary User</a:t>
            </a:r>
          </a:p>
        </p:txBody>
      </p:sp>
      <p:sp>
        <p:nvSpPr>
          <p:cNvPr id="5" name="TextBox 4"/>
          <p:cNvSpPr txBox="1"/>
          <p:nvPr/>
        </p:nvSpPr>
        <p:spPr>
          <a:xfrm>
            <a:off x="548640" y="2468880"/>
            <a:ext cx="5303520" cy="640080"/>
          </a:xfrm>
          <a:prstGeom prst="rect">
            <a:avLst/>
          </a:prstGeom>
          <a:noFill/>
        </p:spPr>
        <p:txBody>
          <a:bodyPr wrap="square">
            <a:normAutofit/>
          </a:bodyPr>
          <a:lstStyle/>
          <a:p>
            <a:r>
              <a:rPr sz="1000" b="0" i="0">
                <a:solidFill>
                  <a:srgbClr val="D7DDEA"/>
                </a:solidFill>
                <a:latin typeface="Segoe UI"/>
              </a:rPr>
              <a:t>Kaiju players — 2 to 4 in the same room, coordinating verbally.</a:t>
            </a:r>
          </a:p>
        </p:txBody>
      </p:sp>
      <p:sp>
        <p:nvSpPr>
          <p:cNvPr id="6" name="TextBox 5"/>
          <p:cNvSpPr txBox="1"/>
          <p:nvPr/>
        </p:nvSpPr>
        <p:spPr>
          <a:xfrm>
            <a:off x="6035040" y="2011680"/>
            <a:ext cx="5303520" cy="365760"/>
          </a:xfrm>
          <a:prstGeom prst="rect">
            <a:avLst/>
          </a:prstGeom>
          <a:noFill/>
        </p:spPr>
        <p:txBody>
          <a:bodyPr wrap="square">
            <a:spAutoFit/>
          </a:bodyPr>
          <a:lstStyle/>
          <a:p>
            <a:r>
              <a:rPr sz="1200" b="1" i="0">
                <a:solidFill>
                  <a:srgbClr val="4DA3FF"/>
                </a:solidFill>
                <a:latin typeface="Segoe UI"/>
              </a:rPr>
              <a:t>Secondary User</a:t>
            </a:r>
          </a:p>
        </p:txBody>
      </p:sp>
      <p:sp>
        <p:nvSpPr>
          <p:cNvPr id="7" name="TextBox 6"/>
          <p:cNvSpPr txBox="1"/>
          <p:nvPr/>
        </p:nvSpPr>
        <p:spPr>
          <a:xfrm>
            <a:off x="6035040" y="2468880"/>
            <a:ext cx="5303520" cy="640080"/>
          </a:xfrm>
          <a:prstGeom prst="rect">
            <a:avLst/>
          </a:prstGeom>
          <a:noFill/>
        </p:spPr>
        <p:txBody>
          <a:bodyPr wrap="square">
            <a:normAutofit/>
          </a:bodyPr>
          <a:lstStyle/>
          <a:p>
            <a:r>
              <a:rPr sz="1000" b="0" i="0">
                <a:solidFill>
                  <a:srgbClr val="D7DDEA"/>
                </a:solidFill>
                <a:latin typeface="Segoe UI"/>
              </a:rPr>
              <a:t>Spectators — eliminated players and observers who witness the combo result on screen and react in the room. Commander — receives the amplified threat event and must respond.</a:t>
            </a:r>
          </a:p>
        </p:txBody>
      </p:sp>
      <p:sp>
        <p:nvSpPr>
          <p:cNvPr id="8" name="TextBox 7"/>
          <p:cNvSpPr txBox="1"/>
          <p:nvPr/>
        </p:nvSpPr>
        <p:spPr>
          <a:xfrm>
            <a:off x="548640" y="3200400"/>
            <a:ext cx="10972800" cy="365760"/>
          </a:xfrm>
          <a:prstGeom prst="rect">
            <a:avLst/>
          </a:prstGeom>
          <a:noFill/>
        </p:spPr>
        <p:txBody>
          <a:bodyPr wrap="square">
            <a:spAutoFit/>
          </a:bodyPr>
          <a:lstStyle/>
          <a:p>
            <a:r>
              <a:rPr sz="1200" b="1" i="0">
                <a:solidFill>
                  <a:srgbClr val="4DA3FF"/>
                </a:solidFill>
                <a:latin typeface="Segoe UI"/>
              </a:rPr>
              <a:t>Preconditions</a:t>
            </a:r>
          </a:p>
        </p:txBody>
      </p:sp>
      <p:sp>
        <p:nvSpPr>
          <p:cNvPr id="9" name="TextBox 8"/>
          <p:cNvSpPr txBox="1"/>
          <p:nvPr/>
        </p:nvSpPr>
        <p:spPr>
          <a:xfrm>
            <a:off x="548640" y="3657600"/>
            <a:ext cx="10972800" cy="548640"/>
          </a:xfrm>
          <a:prstGeom prst="rect">
            <a:avLst/>
          </a:prstGeom>
          <a:noFill/>
        </p:spPr>
        <p:txBody>
          <a:bodyPr wrap="square">
            <a:normAutofit/>
          </a:bodyPr>
          <a:lstStyle/>
          <a:p>
            <a:pPr marL="228600" indent="-228600">
              <a:buChar char="•"/>
            </a:pPr>
            <a:r>
              <a:rPr sz="1000" b="0" i="0">
                <a:solidFill>
                  <a:srgbClr val="D7DDEA"/>
                </a:solidFill>
                <a:latin typeface="Segoe UI"/>
              </a:rPr>
              <a:t>At least two kaiju players are active (not in spectator mode)</a:t>
            </a:r>
          </a:p>
          <a:p>
            <a:pPr marL="228600" indent="-228600">
              <a:buChar char="•"/>
            </a:pPr>
            <a:r>
              <a:rPr sz="1000" b="0" i="0">
                <a:solidFill>
                  <a:srgbClr val="D7DDEA"/>
                </a:solidFill>
                <a:latin typeface="Segoe UI"/>
              </a:rPr>
              <a:t>At least one kaiju has an ability with combo potential available (not on cooldown)</a:t>
            </a:r>
          </a:p>
          <a:p>
            <a:pPr marL="228600" indent="-228600">
              <a:buChar char="•"/>
            </a:pPr>
            <a:r>
              <a:rPr sz="1000" b="0" i="0">
                <a:solidFill>
                  <a:srgbClr val="D7DDEA"/>
                </a:solidFill>
                <a:latin typeface="Segoe UI"/>
              </a:rPr>
              <a:t>Players are in physical proximity and can communicate verbally</a:t>
            </a:r>
          </a:p>
        </p:txBody>
      </p:sp>
      <p:sp>
        <p:nvSpPr>
          <p:cNvPr id="10" name="TextBox 9"/>
          <p:cNvSpPr txBox="1"/>
          <p:nvPr/>
        </p:nvSpPr>
        <p:spPr>
          <a:xfrm>
            <a:off x="548640" y="4251960"/>
            <a:ext cx="10972800" cy="365760"/>
          </a:xfrm>
          <a:prstGeom prst="rect">
            <a:avLst/>
          </a:prstGeom>
          <a:noFill/>
        </p:spPr>
        <p:txBody>
          <a:bodyPr wrap="square">
            <a:spAutoFit/>
          </a:bodyPr>
          <a:lstStyle/>
          <a:p>
            <a:r>
              <a:rPr sz="1200" b="1" i="0">
                <a:solidFill>
                  <a:srgbClr val="4DA3FF"/>
                </a:solidFill>
                <a:latin typeface="Segoe UI"/>
              </a:rPr>
              <a:t>Steps</a:t>
            </a:r>
          </a:p>
        </p:txBody>
      </p:sp>
      <p:sp>
        <p:nvSpPr>
          <p:cNvPr id="11" name="TextBox 10"/>
          <p:cNvSpPr txBox="1"/>
          <p:nvPr/>
        </p:nvSpPr>
        <p:spPr>
          <a:xfrm>
            <a:off x="548640" y="4663440"/>
            <a:ext cx="10972800" cy="822960"/>
          </a:xfrm>
          <a:prstGeom prst="rect">
            <a:avLst/>
          </a:prstGeom>
          <a:noFill/>
        </p:spPr>
        <p:txBody>
          <a:bodyPr wrap="square">
            <a:normAutofit/>
          </a:bodyPr>
          <a:lstStyle/>
          <a:p>
            <a:pPr marL="228600" indent="-228600">
              <a:buAutoNum type="arabicPeriod" startAt="1"/>
            </a:pPr>
            <a:r>
              <a:rPr sz="1000" b="0" i="0">
                <a:solidFill>
                  <a:srgbClr val="D7DDEA"/>
                </a:solidFill>
                <a:latin typeface="Segoe UI"/>
              </a:rPr>
              <a:t>Kaiju Player A activates a buff/setup ability (e.g. Roar — buffs nearby kaiju attack)</a:t>
            </a:r>
          </a:p>
          <a:p>
            <a:pPr marL="228600" indent="-228600">
              <a:buAutoNum type="arabicPeriod" startAt="2"/>
            </a:pPr>
            <a:r>
              <a:rPr sz="1000" b="0" i="0">
                <a:solidFill>
                  <a:srgbClr val="D7DDEA"/>
                </a:solidFill>
                <a:latin typeface="Segoe UI"/>
              </a:rPr>
              <a:t>Player A calls out verbally: "I'm buffed — everyone attack!"</a:t>
            </a:r>
          </a:p>
          <a:p>
            <a:pPr marL="228600" indent="-228600">
              <a:buAutoNum type="arabicPeriod" startAt="3"/>
            </a:pPr>
            <a:r>
              <a:rPr sz="1000" b="0" i="0">
                <a:solidFill>
                  <a:srgbClr val="D7DDEA"/>
                </a:solidFill>
                <a:latin typeface="Segoe UI"/>
              </a:rPr>
              <a:t>Kaiju Players B (and C) trigger their attacks within the combo window</a:t>
            </a:r>
          </a:p>
          <a:p>
            <a:pPr marL="228600" indent="-228600">
              <a:buAutoNum type="arabicPeriod" startAt="4"/>
            </a:pPr>
            <a:r>
              <a:rPr sz="1000" b="0" i="0">
                <a:solidFill>
                  <a:srgbClr val="D7DDEA"/>
                </a:solidFill>
                <a:latin typeface="Segoe UI"/>
              </a:rPr>
              <a:t>Server detects combo condition (simultaneous or sequenced inputs within threshold)</a:t>
            </a:r>
          </a:p>
          <a:p>
            <a:pPr marL="228600" indent="-228600">
              <a:buAutoNum type="arabicPeriod" startAt="5"/>
            </a:pPr>
            <a:r>
              <a:rPr sz="1000" b="0" i="0">
                <a:solidFill>
                  <a:srgbClr val="D7DDEA"/>
                </a:solidFill>
                <a:latin typeface="Segoe UI"/>
              </a:rPr>
              <a:t>Amplified damage event fires on city base or target</a:t>
            </a:r>
          </a:p>
          <a:p>
            <a:pPr marL="228600" indent="-228600">
              <a:buAutoNum type="arabicPeriod" startAt="6"/>
            </a:pPr>
            <a:r>
              <a:rPr sz="1000" b="0" i="0">
                <a:solidFill>
                  <a:srgbClr val="D7DDEA"/>
                </a:solidFill>
                <a:latin typeface="Segoe UI"/>
              </a:rPr>
              <a:t>Kaiju screens show a distinct visual feedback for the combo landing (flash, shockwave, screen shake)</a:t>
            </a:r>
          </a:p>
          <a:p>
            <a:pPr marL="228600" indent="-228600">
              <a:buAutoNum type="arabicPeriod" startAt="7"/>
            </a:pPr>
            <a:r>
              <a:rPr sz="1000" b="0" i="0">
                <a:solidFill>
                  <a:srgbClr val="D7DDEA"/>
                </a:solidFill>
                <a:latin typeface="Segoe UI"/>
              </a:rPr>
              <a:t>Commander's `SignalFeed` receives a notable event entry</a:t>
            </a:r>
          </a:p>
          <a:p>
            <a:pPr marL="228600" indent="-228600">
              <a:buAutoNum type="arabicPeriod" startAt="8"/>
            </a:pPr>
            <a:r>
              <a:rPr sz="1000" b="0" i="0">
                <a:solidFill>
                  <a:srgbClr val="D7DDEA"/>
                </a:solidFill>
                <a:latin typeface="Segoe UI"/>
              </a:rPr>
              <a:t>Room reacts to the spectacle</a:t>
            </a:r>
          </a:p>
        </p:txBody>
      </p:sp>
      <p:sp>
        <p:nvSpPr>
          <p:cNvPr id="12" name="TextBox 11"/>
          <p:cNvSpPr txBox="1"/>
          <p:nvPr/>
        </p:nvSpPr>
        <p:spPr>
          <a:xfrm>
            <a:off x="548640" y="5532120"/>
            <a:ext cx="10972800" cy="365760"/>
          </a:xfrm>
          <a:prstGeom prst="rect">
            <a:avLst/>
          </a:prstGeom>
          <a:noFill/>
        </p:spPr>
        <p:txBody>
          <a:bodyPr wrap="square">
            <a:spAutoFit/>
          </a:bodyPr>
          <a:lstStyle/>
          <a:p>
            <a:r>
              <a:rPr sz="1200" b="1" i="0">
                <a:solidFill>
                  <a:srgbClr val="4DA3FF"/>
                </a:solidFill>
                <a:latin typeface="Segoe UI"/>
              </a:rPr>
              <a:t>Data Requirements</a:t>
            </a:r>
          </a:p>
        </p:txBody>
      </p:sp>
      <p:sp>
        <p:nvSpPr>
          <p:cNvPr id="13" name="TextBox 12"/>
          <p:cNvSpPr txBox="1"/>
          <p:nvPr/>
        </p:nvSpPr>
        <p:spPr>
          <a:xfrm>
            <a:off x="548640" y="5897880"/>
            <a:ext cx="10972800" cy="320040"/>
          </a:xfrm>
          <a:prstGeom prst="rect">
            <a:avLst/>
          </a:prstGeom>
          <a:noFill/>
        </p:spPr>
        <p:txBody>
          <a:bodyPr wrap="square">
            <a:normAutofit/>
          </a:bodyPr>
          <a:lstStyle/>
          <a:p>
            <a:pPr marL="228600" indent="-228600">
              <a:buChar char="•"/>
            </a:pPr>
            <a:r>
              <a:rPr sz="1000" b="0" i="0">
                <a:solidFill>
                  <a:srgbClr val="D7DDEA"/>
                </a:solidFill>
                <a:latin typeface="Segoe UI"/>
              </a:rPr>
              <a:t>Per-kaiju ability state (active, cooldown, type)</a:t>
            </a:r>
          </a:p>
          <a:p>
            <a:pPr marL="228600" indent="-228600">
              <a:buChar char="•"/>
            </a:pPr>
            <a:r>
              <a:rPr sz="1000" b="0" i="0">
                <a:solidFill>
                  <a:srgbClr val="D7DDEA"/>
                </a:solidFill>
                <a:latin typeface="Segoe UI"/>
              </a:rPr>
              <a:t>Combo detection window (time threshold for sequenced inputs)</a:t>
            </a:r>
          </a:p>
          <a:p>
            <a:pPr marL="228600" indent="-228600">
              <a:buChar char="•"/>
            </a:pPr>
            <a:r>
              <a:rPr sz="1000" b="0" i="0">
                <a:solidFill>
                  <a:srgbClr val="D7DDEA"/>
                </a:solidFill>
                <a:latin typeface="Segoe UI"/>
              </a:rPr>
              <a:t>Amplification multiplier per combo type</a:t>
            </a:r>
          </a:p>
          <a:p>
            <a:pPr marL="228600" indent="-228600">
              <a:buChar char="•"/>
            </a:pPr>
            <a:r>
              <a:rPr sz="1000" b="0" i="0">
                <a:solidFill>
                  <a:srgbClr val="D7DDEA"/>
                </a:solidFill>
                <a:latin typeface="Segoe UI"/>
              </a:rPr>
              <a:t>Combo event broadcast to all clients for visual feedback</a:t>
            </a:r>
          </a:p>
        </p:txBody>
      </p:sp>
      <p:sp>
        <p:nvSpPr>
          <p:cNvPr id="14" name="TextBox 13"/>
          <p:cNvSpPr txBox="1"/>
          <p:nvPr/>
        </p:nvSpPr>
        <p:spPr>
          <a:xfrm>
            <a:off x="548640" y="6309360"/>
            <a:ext cx="7863840" cy="228600"/>
          </a:xfrm>
          <a:prstGeom prst="rect">
            <a:avLst/>
          </a:prstGeom>
          <a:noFill/>
        </p:spPr>
        <p:txBody>
          <a:bodyPr wrap="square">
            <a:spAutoFit/>
          </a:bodyPr>
          <a:lstStyle/>
          <a:p>
            <a:r>
              <a:rPr sz="900" b="0" i="0">
                <a:solidFill>
                  <a:srgbClr val="77809A"/>
                </a:solidFill>
                <a:latin typeface="Segoe UI"/>
              </a:rPr>
              <a:t>Source: use-cases/kaiju-combo.md</a:t>
            </a:r>
          </a:p>
        </p:txBody>
      </p:sp>
      <p:sp>
        <p:nvSpPr>
          <p:cNvPr id="15" name="TextBox 14"/>
          <p:cNvSpPr txBox="1"/>
          <p:nvPr/>
        </p:nvSpPr>
        <p:spPr>
          <a:xfrm>
            <a:off x="9784080" y="6309360"/>
            <a:ext cx="1737360" cy="228600"/>
          </a:xfrm>
          <a:prstGeom prst="rect">
            <a:avLst/>
          </a:prstGeom>
          <a:noFill/>
        </p:spPr>
        <p:txBody>
          <a:bodyPr wrap="square">
            <a:spAutoFit/>
          </a:bodyPr>
          <a:lstStyle/>
          <a:p>
            <a:r>
              <a:rPr sz="900" b="0" i="0">
                <a:solidFill>
                  <a:srgbClr val="77809A"/>
                </a:solidFill>
                <a:latin typeface="Segoe UI"/>
              </a:rPr>
              <a:t>Last Updated: 2026-06-24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3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Kaiju Combo Attack</a:t>
            </a:r>
          </a:p>
        </p:txBody>
      </p:sp>
      <p:sp>
        <p:nvSpPr>
          <p:cNvPr id="4" name="TextBox 3"/>
          <p:cNvSpPr txBox="1"/>
          <p:nvPr/>
        </p:nvSpPr>
        <p:spPr>
          <a:xfrm>
            <a:off x="548640" y="2011680"/>
            <a:ext cx="5303520" cy="365760"/>
          </a:xfrm>
          <a:prstGeom prst="rect">
            <a:avLst/>
          </a:prstGeom>
          <a:noFill/>
        </p:spPr>
        <p:txBody>
          <a:bodyPr wrap="square">
            <a:spAutoFit/>
          </a:bodyPr>
          <a:lstStyle/>
          <a:p>
            <a:r>
              <a:rPr sz="1200" b="1" i="0">
                <a:solidFill>
                  <a:srgbClr val="4DA3FF"/>
                </a:solidFill>
                <a:latin typeface="Segoe UI"/>
              </a:rPr>
              <a:t>Equipment Requirements</a:t>
            </a:r>
          </a:p>
        </p:txBody>
      </p:sp>
      <p:sp>
        <p:nvSpPr>
          <p:cNvPr id="5" name="TextBox 4"/>
          <p:cNvSpPr txBox="1"/>
          <p:nvPr/>
        </p:nvSpPr>
        <p:spPr>
          <a:xfrm>
            <a:off x="6035040" y="2011680"/>
            <a:ext cx="5303520" cy="365760"/>
          </a:xfrm>
          <a:prstGeom prst="rect">
            <a:avLst/>
          </a:prstGeom>
          <a:noFill/>
        </p:spPr>
        <p:txBody>
          <a:bodyPr wrap="square">
            <a:spAutoFit/>
          </a:bodyPr>
          <a:lstStyle/>
          <a:p>
            <a:r>
              <a:rPr sz="1200" b="1" i="0">
                <a:solidFill>
                  <a:srgbClr val="4DA3FF"/>
                </a:solidFill>
                <a:latin typeface="Segoe UI"/>
              </a:rPr>
              <a:t>Operating Environment</a:t>
            </a:r>
          </a:p>
        </p:txBody>
      </p:sp>
      <p:sp>
        <p:nvSpPr>
          <p:cNvPr id="6" name="TextBox 5"/>
          <p:cNvSpPr txBox="1"/>
          <p:nvPr/>
        </p:nvSpPr>
        <p:spPr>
          <a:xfrm>
            <a:off x="548640" y="2468880"/>
            <a:ext cx="5303520" cy="548640"/>
          </a:xfrm>
          <a:prstGeom prst="rect">
            <a:avLst/>
          </a:prstGeom>
          <a:noFill/>
        </p:spPr>
        <p:txBody>
          <a:bodyPr wrap="square">
            <a:normAutofit/>
          </a:bodyPr>
          <a:lstStyle/>
          <a:p>
            <a:pPr marL="228600" indent="-228600">
              <a:buChar char="•"/>
            </a:pPr>
            <a:r>
              <a:rPr sz="1000" b="0" i="0">
                <a:solidFill>
                  <a:srgbClr val="D7DDEA"/>
                </a:solidFill>
                <a:latin typeface="Segoe UI"/>
              </a:rPr>
              <a:t>Each kaiju player: phone or tablet running the kaiju client</a:t>
            </a:r>
          </a:p>
          <a:p>
            <a:pPr marL="228600" indent="-228600">
              <a:buChar char="•"/>
            </a:pPr>
            <a:r>
              <a:rPr sz="1000" b="0" i="0">
                <a:solidFill>
                  <a:srgbClr val="D7DDEA"/>
                </a:solidFill>
                <a:latin typeface="Segoe UI"/>
              </a:rPr>
              <a:t>Physical co-location: players must be able to hear each other without in-game voice chat</a:t>
            </a:r>
          </a:p>
        </p:txBody>
      </p:sp>
      <p:sp>
        <p:nvSpPr>
          <p:cNvPr id="7" name="TextBox 6"/>
          <p:cNvSpPr txBox="1"/>
          <p:nvPr/>
        </p:nvSpPr>
        <p:spPr>
          <a:xfrm>
            <a:off x="6035040" y="2468880"/>
            <a:ext cx="5303520" cy="548640"/>
          </a:xfrm>
          <a:prstGeom prst="rect">
            <a:avLst/>
          </a:prstGeom>
          <a:noFill/>
        </p:spPr>
        <p:txBody>
          <a:bodyPr wrap="square">
            <a:normAutofit/>
          </a:bodyPr>
          <a:lstStyle/>
          <a:p>
            <a:r>
              <a:rPr sz="1000" b="0" i="0">
                <a:solidFill>
                  <a:srgbClr val="D7DDEA"/>
                </a:solidFill>
                <a:latin typeface="Segoe UI"/>
              </a:rPr>
              <a:t>Same room as Commander and other players. Noise is expected and desirable. No internet voice channel required — verbal coordination is the mechanic.</a:t>
            </a:r>
          </a:p>
        </p:txBody>
      </p:sp>
      <p:sp>
        <p:nvSpPr>
          <p:cNvPr id="8" name="TextBox 7"/>
          <p:cNvSpPr txBox="1"/>
          <p:nvPr/>
        </p:nvSpPr>
        <p:spPr>
          <a:xfrm>
            <a:off x="548640" y="3200400"/>
            <a:ext cx="10972800" cy="365760"/>
          </a:xfrm>
          <a:prstGeom prst="rect">
            <a:avLst/>
          </a:prstGeom>
          <a:noFill/>
        </p:spPr>
        <p:txBody>
          <a:bodyPr wrap="square">
            <a:spAutoFit/>
          </a:bodyPr>
          <a:lstStyle/>
          <a:p>
            <a:r>
              <a:rPr sz="1200" b="1" i="0">
                <a:solidFill>
                  <a:srgbClr val="4DA3FF"/>
                </a:solidFill>
                <a:latin typeface="Segoe UI"/>
              </a:rPr>
              <a:t>Success Criteria</a:t>
            </a:r>
          </a:p>
        </p:txBody>
      </p:sp>
      <p:sp>
        <p:nvSpPr>
          <p:cNvPr id="9" name="TextBox 8"/>
          <p:cNvSpPr txBox="1"/>
          <p:nvPr/>
        </p:nvSpPr>
        <p:spPr>
          <a:xfrm>
            <a:off x="548640" y="3657600"/>
            <a:ext cx="10972800" cy="914400"/>
          </a:xfrm>
          <a:prstGeom prst="rect">
            <a:avLst/>
          </a:prstGeom>
          <a:noFill/>
        </p:spPr>
        <p:txBody>
          <a:bodyPr wrap="square">
            <a:normAutofit/>
          </a:bodyPr>
          <a:lstStyle/>
          <a:p>
            <a:pPr marL="228600" indent="-228600">
              <a:buChar char="•"/>
            </a:pPr>
            <a:r>
              <a:rPr sz="1000" b="0" i="0">
                <a:solidFill>
                  <a:srgbClr val="D7DDEA"/>
                </a:solidFill>
                <a:latin typeface="Segoe UI"/>
              </a:rPr>
              <a:t>A first-time player discovers a combo exists within their first match without reading instructions</a:t>
            </a:r>
          </a:p>
          <a:p>
            <a:pPr marL="228600" indent="-228600">
              <a:buChar char="•"/>
            </a:pPr>
            <a:r>
              <a:rPr sz="1000" b="0" i="0">
                <a:solidFill>
                  <a:srgbClr val="D7DDEA"/>
                </a:solidFill>
                <a:latin typeface="Segoe UI"/>
              </a:rPr>
              <a:t>The combo landing produces a visible, audible, and social moment in the room</a:t>
            </a:r>
          </a:p>
          <a:p>
            <a:pPr marL="228600" indent="-228600">
              <a:buChar char="•"/>
            </a:pPr>
            <a:r>
              <a:rPr sz="1000" b="0" i="0">
                <a:solidFill>
                  <a:srgbClr val="D7DDEA"/>
                </a:solidFill>
                <a:latin typeface="Segoe UI"/>
              </a:rPr>
              <a:t>Commander acknowledges the threat visually — the combo registers as a meaningful escalation</a:t>
            </a:r>
          </a:p>
        </p:txBody>
      </p:sp>
      <p:sp>
        <p:nvSpPr>
          <p:cNvPr id="10" name="TextBox 9"/>
          <p:cNvSpPr txBox="1"/>
          <p:nvPr/>
        </p:nvSpPr>
        <p:spPr>
          <a:xfrm>
            <a:off x="548640" y="4663440"/>
            <a:ext cx="10972800" cy="365760"/>
          </a:xfrm>
          <a:prstGeom prst="rect">
            <a:avLst/>
          </a:prstGeom>
          <a:noFill/>
        </p:spPr>
        <p:txBody>
          <a:bodyPr wrap="square">
            <a:spAutoFit/>
          </a:bodyPr>
          <a:lstStyle/>
          <a:p>
            <a:r>
              <a:rPr sz="1200" b="1" i="0">
                <a:solidFill>
                  <a:srgbClr val="4DA3FF"/>
                </a:solidFill>
                <a:latin typeface="Segoe UI"/>
              </a:rPr>
              <a:t>Pain Points</a:t>
            </a:r>
          </a:p>
        </p:txBody>
      </p:sp>
      <p:sp>
        <p:nvSpPr>
          <p:cNvPr id="11" name="TextBox 10"/>
          <p:cNvSpPr txBox="1"/>
          <p:nvPr/>
        </p:nvSpPr>
        <p:spPr>
          <a:xfrm>
            <a:off x="548640" y="5120640"/>
            <a:ext cx="10972800" cy="914400"/>
          </a:xfrm>
          <a:prstGeom prst="rect">
            <a:avLst/>
          </a:prstGeom>
          <a:noFill/>
        </p:spPr>
        <p:txBody>
          <a:bodyPr wrap="square">
            <a:normAutofit/>
          </a:bodyPr>
          <a:lstStyle/>
          <a:p>
            <a:pPr marL="228600" indent="-228600">
              <a:buChar char="•"/>
            </a:pPr>
            <a:r>
              <a:rPr sz="1000" b="0" i="0">
                <a:solidFill>
                  <a:srgbClr val="D7DDEA"/>
                </a:solidFill>
                <a:latin typeface="Segoe UI"/>
              </a:rPr>
              <a:t>If combo windows are too short, verbal coordination can't keep up in real time</a:t>
            </a:r>
          </a:p>
          <a:p>
            <a:pPr marL="228600" indent="-228600">
              <a:buChar char="•"/>
            </a:pPr>
            <a:r>
              <a:rPr sz="1000" b="0" i="0">
                <a:solidFill>
                  <a:srgbClr val="D7DDEA"/>
                </a:solidFill>
                <a:latin typeface="Segoe UI"/>
              </a:rPr>
              <a:t>If kaiju ability icons are unclear, players won't know when a combo opportunity exists</a:t>
            </a:r>
          </a:p>
          <a:p>
            <a:pPr marL="228600" indent="-228600">
              <a:buChar char="•"/>
            </a:pPr>
            <a:r>
              <a:rPr sz="1000" b="0" i="0">
                <a:solidFill>
                  <a:srgbClr val="D7DDEA"/>
                </a:solidFill>
                <a:latin typeface="Segoe UI"/>
              </a:rPr>
              <a:t>If the combo feedback is too subtle, the room won't react and the moment is lost</a:t>
            </a:r>
          </a:p>
        </p:txBody>
      </p:sp>
      <p:sp>
        <p:nvSpPr>
          <p:cNvPr id="12" name="TextBox 11"/>
          <p:cNvSpPr txBox="1"/>
          <p:nvPr/>
        </p:nvSpPr>
        <p:spPr>
          <a:xfrm>
            <a:off x="548640" y="6126480"/>
            <a:ext cx="7863840" cy="228600"/>
          </a:xfrm>
          <a:prstGeom prst="rect">
            <a:avLst/>
          </a:prstGeom>
          <a:noFill/>
        </p:spPr>
        <p:txBody>
          <a:bodyPr wrap="square">
            <a:spAutoFit/>
          </a:bodyPr>
          <a:lstStyle/>
          <a:p>
            <a:r>
              <a:rPr sz="900" b="0" i="0">
                <a:solidFill>
                  <a:srgbClr val="77809A"/>
                </a:solidFill>
                <a:latin typeface="Segoe UI"/>
              </a:rPr>
              <a:t>Source: use-cases/kaiju-combo.md</a:t>
            </a:r>
          </a:p>
        </p:txBody>
      </p:sp>
      <p:sp>
        <p:nvSpPr>
          <p:cNvPr id="13" name="TextBox 12"/>
          <p:cNvSpPr txBox="1"/>
          <p:nvPr/>
        </p:nvSpPr>
        <p:spPr>
          <a:xfrm>
            <a:off x="9784080" y="6126480"/>
            <a:ext cx="1737360" cy="228600"/>
          </a:xfrm>
          <a:prstGeom prst="rect">
            <a:avLst/>
          </a:prstGeom>
          <a:noFill/>
        </p:spPr>
        <p:txBody>
          <a:bodyPr wrap="square">
            <a:spAutoFit/>
          </a:bodyPr>
          <a:lstStyle/>
          <a:p>
            <a:r>
              <a:rPr sz="900" b="0" i="0">
                <a:solidFill>
                  <a:srgbClr val="77809A"/>
                </a:solidFill>
                <a:latin typeface="Segoe UI"/>
              </a:rPr>
              <a:t>Last Updated: 2026-06-24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6FD2D9"/>
                </a:solidFill>
                <a:latin typeface="Segoe UI"/>
              </a:rPr>
              <a:t>USE CASE (Part 4 of 4)</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Use Case — Kaiju Combo Attack</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Extensions</a:t>
            </a:r>
          </a:p>
        </p:txBody>
      </p:sp>
      <p:sp>
        <p:nvSpPr>
          <p:cNvPr id="5" name="TextBox 4"/>
          <p:cNvSpPr txBox="1"/>
          <p:nvPr/>
        </p:nvSpPr>
        <p:spPr>
          <a:xfrm>
            <a:off x="548640" y="2468880"/>
            <a:ext cx="10972800" cy="2560320"/>
          </a:xfrm>
          <a:prstGeom prst="rect">
            <a:avLst/>
          </a:prstGeom>
          <a:noFill/>
        </p:spPr>
        <p:txBody>
          <a:bodyPr wrap="square">
            <a:normAutofit/>
          </a:bodyPr>
          <a:lstStyle/>
          <a:p>
            <a:pPr marL="228600" indent="-228600">
              <a:buChar char="•"/>
            </a:pPr>
            <a:r>
              <a:rPr sz="1000" b="0" i="0">
                <a:solidFill>
                  <a:srgbClr val="D7DDEA"/>
                </a:solidFill>
                <a:latin typeface="Segoe UI"/>
              </a:rPr>
              <a:t>**Three-kaiju combo**: all three active kaiju land attacks within a single window — maximum amplification tier</a:t>
            </a:r>
          </a:p>
          <a:p>
            <a:pPr marL="228600" indent="-228600">
              <a:buChar char="•"/>
            </a:pPr>
            <a:r>
              <a:rPr sz="1000" b="0" i="0">
                <a:solidFill>
                  <a:srgbClr val="D7DDEA"/>
                </a:solidFill>
                <a:latin typeface="Segoe UI"/>
              </a:rPr>
              <a:t>**Interrupted combo**: Commander deploys Raise Barrier or Scramble Jets mid-window, partially negating the combo — rewards good Commander reads</a:t>
            </a:r>
          </a:p>
          <a:p>
            <a:pPr marL="228600" indent="-228600">
              <a:buChar char="•"/>
            </a:pPr>
            <a:r>
              <a:rPr sz="1000" b="0" i="0">
                <a:solidFill>
                  <a:srgbClr val="D7DDEA"/>
                </a:solidFill>
                <a:latin typeface="Segoe UI"/>
              </a:rPr>
              <a:t>**Failed coordination**: players call for a combo but miss the window — creates a funny failure moment rather than frustration</a:t>
            </a:r>
          </a:p>
        </p:txBody>
      </p:sp>
      <p:sp>
        <p:nvSpPr>
          <p:cNvPr id="6" name="TextBox 5"/>
          <p:cNvSpPr txBox="1"/>
          <p:nvPr/>
        </p:nvSpPr>
        <p:spPr>
          <a:xfrm>
            <a:off x="548640" y="5120640"/>
            <a:ext cx="10972800" cy="365760"/>
          </a:xfrm>
          <a:prstGeom prst="rect">
            <a:avLst/>
          </a:prstGeom>
          <a:noFill/>
        </p:spPr>
        <p:txBody>
          <a:bodyPr wrap="square">
            <a:spAutoFit/>
          </a:bodyPr>
          <a:lstStyle/>
          <a:p>
            <a:r>
              <a:rPr sz="1200" b="1" i="0">
                <a:solidFill>
                  <a:srgbClr val="4DA3FF"/>
                </a:solidFill>
                <a:latin typeface="Segoe UI"/>
              </a:rPr>
              <a:t>Evidence</a:t>
            </a:r>
          </a:p>
        </p:txBody>
      </p:sp>
      <p:sp>
        <p:nvSpPr>
          <p:cNvPr id="7" name="TextBox 6"/>
          <p:cNvSpPr txBox="1"/>
          <p:nvPr/>
        </p:nvSpPr>
        <p:spPr>
          <a:xfrm>
            <a:off x="548640" y="5577840"/>
            <a:ext cx="10972800" cy="640080"/>
          </a:xfrm>
          <a:prstGeom prst="rect">
            <a:avLst/>
          </a:prstGeom>
          <a:noFill/>
        </p:spPr>
        <p:txBody>
          <a:bodyPr wrap="square">
            <a:normAutofit/>
          </a:bodyPr>
          <a:lstStyle/>
          <a:p>
            <a:pPr marL="228600" indent="-228600">
              <a:buChar char="•"/>
            </a:pPr>
            <a:r>
              <a:rPr sz="1000" b="0" i="0">
                <a:solidFill>
                  <a:srgbClr val="D7DDEA"/>
                </a:solidFill>
                <a:latin typeface="Segoe UI"/>
              </a:rPr>
              <a:t>Source: Method 3 synthesis (2026-06-23)</a:t>
            </a:r>
          </a:p>
          <a:p>
            <a:pPr marL="228600" indent="-228600">
              <a:buChar char="•"/>
            </a:pPr>
            <a:r>
              <a:rPr sz="1000" b="0" i="0">
                <a:solidFill>
                  <a:srgbClr val="D7DDEA"/>
                </a:solidFill>
                <a:latin typeface="Segoe UI"/>
              </a:rPr>
              <a:t>Kaiju cooperative mechanics confirmed in synthesis; verbal in-room coordination identified as the coordination layer</a:t>
            </a:r>
          </a:p>
          <a:p>
            <a:pPr marL="228600" indent="-228600">
              <a:buChar char="•"/>
            </a:pPr>
            <a:r>
              <a:rPr sz="1000" b="0" i="0">
                <a:solidFill>
                  <a:srgbClr val="D7DDEA"/>
                </a:solidFill>
                <a:latin typeface="Segoe UI"/>
              </a:rPr>
              <a:t>Roar ability in design doc Section 4.2 already seeds combo potential (`buffs nearby kaiju`)</a:t>
            </a:r>
          </a:p>
          <a:p>
            <a:pPr marL="228600" indent="-228600">
              <a:buChar char="•"/>
            </a:pPr>
            <a:r>
              <a:rPr sz="1000" b="0" i="0">
                <a:solidFill>
                  <a:srgbClr val="D7DDEA"/>
                </a:solidFill>
                <a:latin typeface="Segoe UI"/>
              </a:rPr>
              <a:t>Theme 2 (Room Is the Third Mechanic) and HMW-04 directly inform this use case</a:t>
            </a:r>
          </a:p>
        </p:txBody>
      </p:sp>
      <p:sp>
        <p:nvSpPr>
          <p:cNvPr id="8" name="TextBox 7"/>
          <p:cNvSpPr txBox="1"/>
          <p:nvPr/>
        </p:nvSpPr>
        <p:spPr>
          <a:xfrm>
            <a:off x="548640" y="6309360"/>
            <a:ext cx="7863840" cy="228600"/>
          </a:xfrm>
          <a:prstGeom prst="rect">
            <a:avLst/>
          </a:prstGeom>
          <a:noFill/>
        </p:spPr>
        <p:txBody>
          <a:bodyPr wrap="square">
            <a:spAutoFit/>
          </a:bodyPr>
          <a:lstStyle/>
          <a:p>
            <a:r>
              <a:rPr sz="900" b="0" i="0">
                <a:solidFill>
                  <a:srgbClr val="77809A"/>
                </a:solidFill>
                <a:latin typeface="Segoe UI"/>
              </a:rPr>
              <a:t>Source: use-cases/kaiju-combo.md</a:t>
            </a:r>
          </a:p>
        </p:txBody>
      </p:sp>
      <p:sp>
        <p:nvSpPr>
          <p:cNvPr id="9" name="TextBox 8"/>
          <p:cNvSpPr txBox="1"/>
          <p:nvPr/>
        </p:nvSpPr>
        <p:spPr>
          <a:xfrm>
            <a:off x="9784080" y="6309360"/>
            <a:ext cx="1737360" cy="228600"/>
          </a:xfrm>
          <a:prstGeom prst="rect">
            <a:avLst/>
          </a:prstGeom>
          <a:noFill/>
        </p:spPr>
        <p:txBody>
          <a:bodyPr wrap="square">
            <a:spAutoFit/>
          </a:bodyPr>
          <a:lstStyle/>
          <a:p>
            <a:r>
              <a:rPr sz="900" b="0" i="0">
                <a:solidFill>
                  <a:srgbClr val="77809A"/>
                </a:solidFill>
                <a:latin typeface="Segoe UI"/>
              </a:rPr>
              <a:t>Last Updated: 2026-06-24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BA8CF5"/>
                </a:solidFill>
                <a:latin typeface="Segoe UI"/>
              </a:rPr>
              <a:t>PERSONA</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Persona — The Incident Commander</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Description</a:t>
            </a:r>
          </a:p>
        </p:txBody>
      </p:sp>
      <p:sp>
        <p:nvSpPr>
          <p:cNvPr id="5" name="TextBox 4"/>
          <p:cNvSpPr txBox="1"/>
          <p:nvPr/>
        </p:nvSpPr>
        <p:spPr>
          <a:xfrm>
            <a:off x="548640" y="2468880"/>
            <a:ext cx="10972800" cy="640080"/>
          </a:xfrm>
          <a:prstGeom prst="rect">
            <a:avLst/>
          </a:prstGeom>
          <a:noFill/>
        </p:spPr>
        <p:txBody>
          <a:bodyPr wrap="square">
            <a:normAutofit/>
          </a:bodyPr>
          <a:lstStyle/>
          <a:p>
            <a:r>
              <a:rPr sz="1000" b="0" i="0">
                <a:solidFill>
                  <a:srgbClr val="D7DDEA"/>
                </a:solidFill>
                <a:latin typeface="Segoe UI"/>
              </a:rPr>
              <a:t>The Incident Commander is the solo operator of the city defense dashboard. They may be a social gamer who enjoys strategy and coordination, or a first responder drawn to the familiar asymmetry of managing assets under pressure. They are the only player with no respawns — they play the full 90-second match from start to finish.</a:t>
            </a:r>
          </a:p>
        </p:txBody>
      </p:sp>
      <p:sp>
        <p:nvSpPr>
          <p:cNvPr id="6" name="TextBox 5"/>
          <p:cNvSpPr txBox="1"/>
          <p:nvPr/>
        </p:nvSpPr>
        <p:spPr>
          <a:xfrm>
            <a:off x="548640" y="3200400"/>
            <a:ext cx="10972800" cy="365760"/>
          </a:xfrm>
          <a:prstGeom prst="rect">
            <a:avLst/>
          </a:prstGeom>
          <a:noFill/>
        </p:spPr>
        <p:txBody>
          <a:bodyPr wrap="square">
            <a:spAutoFit/>
          </a:bodyPr>
          <a:lstStyle/>
          <a:p>
            <a:r>
              <a:rPr sz="1200" b="1" i="0">
                <a:solidFill>
                  <a:srgbClr val="4DA3FF"/>
                </a:solidFill>
                <a:latin typeface="Segoe UI"/>
              </a:rPr>
              <a:t>Goal</a:t>
            </a:r>
          </a:p>
        </p:txBody>
      </p:sp>
      <p:sp>
        <p:nvSpPr>
          <p:cNvPr id="7" name="TextBox 6"/>
          <p:cNvSpPr txBox="1"/>
          <p:nvPr/>
        </p:nvSpPr>
        <p:spPr>
          <a:xfrm>
            <a:off x="548640" y="3657600"/>
            <a:ext cx="10972800" cy="640080"/>
          </a:xfrm>
          <a:prstGeom prst="rect">
            <a:avLst/>
          </a:prstGeom>
          <a:noFill/>
        </p:spPr>
        <p:txBody>
          <a:bodyPr wrap="square">
            <a:normAutofit/>
          </a:bodyPr>
          <a:lstStyle/>
          <a:p>
            <a:r>
              <a:rPr sz="1000" b="0" i="0">
                <a:solidFill>
                  <a:srgbClr val="D7DDEA"/>
                </a:solidFill>
                <a:latin typeface="Segoe UI"/>
              </a:rPr>
              <a:t>Evacuate as many humans as possible before the kaiju destroy the city. Not to win — the city will fall. To beat their own best score and climb the leaderboard.</a:t>
            </a:r>
          </a:p>
        </p:txBody>
      </p:sp>
      <p:sp>
        <p:nvSpPr>
          <p:cNvPr id="8" name="TextBox 7"/>
          <p:cNvSpPr txBox="1"/>
          <p:nvPr/>
        </p:nvSpPr>
        <p:spPr>
          <a:xfrm>
            <a:off x="548640" y="4389120"/>
            <a:ext cx="10972800" cy="365760"/>
          </a:xfrm>
          <a:prstGeom prst="rect">
            <a:avLst/>
          </a:prstGeom>
          <a:noFill/>
        </p:spPr>
        <p:txBody>
          <a:bodyPr wrap="square">
            <a:spAutoFit/>
          </a:bodyPr>
          <a:lstStyle/>
          <a:p>
            <a:r>
              <a:rPr sz="1200" b="1" i="0">
                <a:solidFill>
                  <a:srgbClr val="4DA3FF"/>
                </a:solidFill>
                <a:latin typeface="Segoe UI"/>
              </a:rPr>
              <a:t>Needs</a:t>
            </a:r>
          </a:p>
        </p:txBody>
      </p:sp>
      <p:sp>
        <p:nvSpPr>
          <p:cNvPr id="9" name="TextBox 8"/>
          <p:cNvSpPr txBox="1"/>
          <p:nvPr/>
        </p:nvSpPr>
        <p:spPr>
          <a:xfrm>
            <a:off x="548640" y="4846320"/>
            <a:ext cx="10972800" cy="640080"/>
          </a:xfrm>
          <a:prstGeom prst="rect">
            <a:avLst/>
          </a:prstGeom>
          <a:noFill/>
        </p:spPr>
        <p:txBody>
          <a:bodyPr wrap="square">
            <a:normAutofit/>
          </a:bodyPr>
          <a:lstStyle/>
          <a:p>
            <a:pPr marL="228600" indent="-228600">
              <a:buChar char="•"/>
            </a:pPr>
            <a:r>
              <a:rPr sz="1000" b="0" i="0">
                <a:solidFill>
                  <a:srgbClr val="D7DDEA"/>
                </a:solidFill>
                <a:latin typeface="Segoe UI"/>
              </a:rPr>
              <a:t>A dashboard that communicates threat state clearly under time pressure</a:t>
            </a:r>
          </a:p>
          <a:p>
            <a:pPr marL="228600" indent="-228600">
              <a:buChar char="•"/>
            </a:pPr>
            <a:r>
              <a:rPr sz="1000" b="0" i="0">
                <a:solidFill>
                  <a:srgbClr val="D7DDEA"/>
                </a:solidFill>
                <a:latin typeface="Segoe UI"/>
              </a:rPr>
              <a:t>Meaningful decisions: when to dispatch defensive assets vs. trigger rocket launches</a:t>
            </a:r>
          </a:p>
          <a:p>
            <a:pPr marL="228600" indent="-228600">
              <a:buChar char="•"/>
            </a:pPr>
            <a:r>
              <a:rPr sz="1000" b="0" i="0">
                <a:solidFill>
                  <a:srgbClr val="D7DDEA"/>
                </a:solidFill>
                <a:latin typeface="Segoe UI"/>
              </a:rPr>
              <a:t>Feedback that makes each evacuation feel earned — not passive</a:t>
            </a:r>
          </a:p>
          <a:p>
            <a:pPr marL="228600" indent="-228600">
              <a:buChar char="•"/>
            </a:pPr>
            <a:r>
              <a:rPr sz="1000" b="0" i="0">
                <a:solidFill>
                  <a:srgbClr val="D7DDEA"/>
                </a:solidFill>
                <a:latin typeface="Segoe UI"/>
              </a:rPr>
              <a:t>A score screen with initials entry that makes their best run feel permanent</a:t>
            </a:r>
          </a:p>
        </p:txBody>
      </p:sp>
      <p:sp>
        <p:nvSpPr>
          <p:cNvPr id="10" name="TextBox 9"/>
          <p:cNvSpPr txBox="1"/>
          <p:nvPr/>
        </p:nvSpPr>
        <p:spPr>
          <a:xfrm>
            <a:off x="548640" y="5577840"/>
            <a:ext cx="10972800" cy="274320"/>
          </a:xfrm>
          <a:prstGeom prst="rect">
            <a:avLst/>
          </a:prstGeom>
          <a:noFill/>
        </p:spPr>
        <p:txBody>
          <a:bodyPr wrap="square">
            <a:spAutoFit/>
          </a:bodyPr>
          <a:lstStyle/>
          <a:p>
            <a:r>
              <a:rPr sz="1200" b="1" i="0">
                <a:solidFill>
                  <a:srgbClr val="4DA3FF"/>
                </a:solidFill>
                <a:latin typeface="Segoe UI"/>
              </a:rPr>
              <a:t>Mindset</a:t>
            </a:r>
          </a:p>
        </p:txBody>
      </p:sp>
      <p:sp>
        <p:nvSpPr>
          <p:cNvPr id="11" name="TextBox 10"/>
          <p:cNvSpPr txBox="1"/>
          <p:nvPr/>
        </p:nvSpPr>
        <p:spPr>
          <a:xfrm>
            <a:off x="548640" y="5897880"/>
            <a:ext cx="10972800" cy="228600"/>
          </a:xfrm>
          <a:prstGeom prst="rect">
            <a:avLst/>
          </a:prstGeom>
          <a:noFill/>
        </p:spPr>
        <p:txBody>
          <a:bodyPr wrap="square">
            <a:normAutofit/>
          </a:bodyPr>
          <a:lstStyle/>
          <a:p>
            <a:r>
              <a:rPr sz="1000" b="0" i="0">
                <a:solidFill>
                  <a:srgbClr val="D7DDEA"/>
                </a:solidFill>
                <a:latin typeface="Segoe UI"/>
              </a:rPr>
              <a:t>The Commander thinks in triage. They accept they cannot stop the kaiju and focus on buying time. They are motivated by score optimization, not survival. They enjoy the tension of being one player against many, and the social pressure of a room watching their screen. Frustration comes when they feel helpless rather than challenged — the game must make every dispatch feel like it mattered, even in defeat.</a:t>
            </a:r>
          </a:p>
        </p:txBody>
      </p:sp>
      <p:sp>
        <p:nvSpPr>
          <p:cNvPr id="12" name="TextBox 11"/>
          <p:cNvSpPr txBox="1"/>
          <p:nvPr/>
        </p:nvSpPr>
        <p:spPr>
          <a:xfrm>
            <a:off x="548640" y="6263640"/>
            <a:ext cx="7863840" cy="228600"/>
          </a:xfrm>
          <a:prstGeom prst="rect">
            <a:avLst/>
          </a:prstGeom>
          <a:noFill/>
        </p:spPr>
        <p:txBody>
          <a:bodyPr wrap="square">
            <a:spAutoFit/>
          </a:bodyPr>
          <a:lstStyle/>
          <a:p>
            <a:r>
              <a:rPr sz="900" b="0" i="0">
                <a:solidFill>
                  <a:srgbClr val="77809A"/>
                </a:solidFill>
                <a:latin typeface="Segoe UI"/>
              </a:rPr>
              <a:t>Source: personas/incident-commander.md</a:t>
            </a:r>
          </a:p>
        </p:txBody>
      </p:sp>
      <p:sp>
        <p:nvSpPr>
          <p:cNvPr id="13" name="TextBox 12"/>
          <p:cNvSpPr txBox="1"/>
          <p:nvPr/>
        </p:nvSpPr>
        <p:spPr>
          <a:xfrm>
            <a:off x="9784080" y="6263640"/>
            <a:ext cx="1828800" cy="228600"/>
          </a:xfrm>
          <a:prstGeom prst="rect">
            <a:avLst/>
          </a:prstGeom>
          <a:noFill/>
        </p:spPr>
        <p:txBody>
          <a:bodyPr wrap="square">
            <a:spAutoFit/>
          </a:bodyPr>
          <a:lstStyle/>
          <a:p>
            <a:pPr algn="r"/>
            <a:r>
              <a:rPr sz="900" b="0" i="0">
                <a:solidFill>
                  <a:srgbClr val="77809A"/>
                </a:solidFill>
                <a:latin typeface="Segoe UI"/>
              </a:rPr>
              <a:t>2026-06-24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548640" y="731520"/>
            <a:ext cx="10972800" cy="457200"/>
          </a:xfrm>
          <a:prstGeom prst="rect">
            <a:avLst/>
          </a:prstGeom>
          <a:noFill/>
        </p:spPr>
        <p:txBody>
          <a:bodyPr wrap="square">
            <a:spAutoFit/>
          </a:bodyPr>
          <a:lstStyle/>
          <a:p>
            <a:r>
              <a:rPr sz="1000" b="1" i="0">
                <a:solidFill>
                  <a:srgbClr val="BA8CF5"/>
                </a:solidFill>
                <a:latin typeface="Segoe UI"/>
              </a:rPr>
              <a:t>PERSONA</a:t>
            </a:r>
          </a:p>
        </p:txBody>
      </p:sp>
      <p:sp>
        <p:nvSpPr>
          <p:cNvPr id="3" name="TextBox 2"/>
          <p:cNvSpPr txBox="1"/>
          <p:nvPr/>
        </p:nvSpPr>
        <p:spPr>
          <a:xfrm>
            <a:off x="548640" y="1188720"/>
            <a:ext cx="10972800" cy="731520"/>
          </a:xfrm>
          <a:prstGeom prst="rect">
            <a:avLst/>
          </a:prstGeom>
          <a:noFill/>
        </p:spPr>
        <p:txBody>
          <a:bodyPr wrap="square">
            <a:normAutofit/>
          </a:bodyPr>
          <a:lstStyle/>
          <a:p>
            <a:r>
              <a:rPr sz="2200" b="1" i="0">
                <a:solidFill>
                  <a:srgbClr val="FFFFFF"/>
                </a:solidFill>
                <a:latin typeface="Segoe UI"/>
              </a:rPr>
              <a:t>Persona — The Kaiju Player</a:t>
            </a:r>
          </a:p>
        </p:txBody>
      </p:sp>
      <p:sp>
        <p:nvSpPr>
          <p:cNvPr id="4" name="TextBox 3"/>
          <p:cNvSpPr txBox="1"/>
          <p:nvPr/>
        </p:nvSpPr>
        <p:spPr>
          <a:xfrm>
            <a:off x="548640" y="2011680"/>
            <a:ext cx="10972800" cy="365760"/>
          </a:xfrm>
          <a:prstGeom prst="rect">
            <a:avLst/>
          </a:prstGeom>
          <a:noFill/>
        </p:spPr>
        <p:txBody>
          <a:bodyPr wrap="square">
            <a:spAutoFit/>
          </a:bodyPr>
          <a:lstStyle/>
          <a:p>
            <a:r>
              <a:rPr sz="1200" b="1" i="0">
                <a:solidFill>
                  <a:srgbClr val="4DA3FF"/>
                </a:solidFill>
                <a:latin typeface="Segoe UI"/>
              </a:rPr>
              <a:t>Description</a:t>
            </a:r>
          </a:p>
        </p:txBody>
      </p:sp>
      <p:sp>
        <p:nvSpPr>
          <p:cNvPr id="5" name="TextBox 4"/>
          <p:cNvSpPr txBox="1"/>
          <p:nvPr/>
        </p:nvSpPr>
        <p:spPr>
          <a:xfrm>
            <a:off x="548640" y="2468880"/>
            <a:ext cx="10972800" cy="640080"/>
          </a:xfrm>
          <a:prstGeom prst="rect">
            <a:avLst/>
          </a:prstGeom>
          <a:noFill/>
        </p:spPr>
        <p:txBody>
          <a:bodyPr wrap="square">
            <a:normAutofit/>
          </a:bodyPr>
          <a:lstStyle/>
          <a:p>
            <a:r>
              <a:rPr sz="1000" b="0" i="0">
                <a:solidFill>
                  <a:srgbClr val="D7DDEA"/>
                </a:solidFill>
                <a:latin typeface="Segoe UI"/>
              </a:rPr>
              <a:t>A Kaiju player controls a single leviathan advancing on the city. There are one to four of them per match, each on their own device (phone or tablet). They pick from a roster of distinct kaiju archetypes — each with different normal and special attacks — and have unlimited respawns via the INSERT COIN flash. Die, press a key, return to the map edge. Individually fragile but collectively unstoppable.</a:t>
            </a:r>
          </a:p>
        </p:txBody>
      </p:sp>
      <p:sp>
        <p:nvSpPr>
          <p:cNvPr id="6" name="TextBox 5"/>
          <p:cNvSpPr txBox="1"/>
          <p:nvPr/>
        </p:nvSpPr>
        <p:spPr>
          <a:xfrm>
            <a:off x="548640" y="3200400"/>
            <a:ext cx="10972800" cy="365760"/>
          </a:xfrm>
          <a:prstGeom prst="rect">
            <a:avLst/>
          </a:prstGeom>
          <a:noFill/>
        </p:spPr>
        <p:txBody>
          <a:bodyPr wrap="square">
            <a:spAutoFit/>
          </a:bodyPr>
          <a:lstStyle/>
          <a:p>
            <a:r>
              <a:rPr sz="1200" b="1" i="0">
                <a:solidFill>
                  <a:srgbClr val="4DA3FF"/>
                </a:solidFill>
                <a:latin typeface="Segoe UI"/>
              </a:rPr>
              <a:t>Goal</a:t>
            </a:r>
          </a:p>
        </p:txBody>
      </p:sp>
      <p:sp>
        <p:nvSpPr>
          <p:cNvPr id="7" name="TextBox 6"/>
          <p:cNvSpPr txBox="1"/>
          <p:nvPr/>
        </p:nvSpPr>
        <p:spPr>
          <a:xfrm>
            <a:off x="548640" y="3657600"/>
            <a:ext cx="10972800" cy="640080"/>
          </a:xfrm>
          <a:prstGeom prst="rect">
            <a:avLst/>
          </a:prstGeom>
          <a:noFill/>
        </p:spPr>
        <p:txBody>
          <a:bodyPr wrap="square">
            <a:normAutofit/>
          </a:bodyPr>
          <a:lstStyle/>
          <a:p>
            <a:r>
              <a:rPr sz="1000" b="0" i="0">
                <a:solidFill>
                  <a:srgbClr val="D7DDEA"/>
                </a:solidFill>
                <a:latin typeface="Segoe UI"/>
              </a:rPr>
              <a:t>Destroy the city base before the 90-second clock runs out. Coordinate timing and attacks with other kaiju — including combo sequences that amplify damage — to overwhelm the Commander's defenses. Feel like a force of nature.</a:t>
            </a:r>
          </a:p>
        </p:txBody>
      </p:sp>
      <p:sp>
        <p:nvSpPr>
          <p:cNvPr id="8" name="TextBox 7"/>
          <p:cNvSpPr txBox="1"/>
          <p:nvPr/>
        </p:nvSpPr>
        <p:spPr>
          <a:xfrm>
            <a:off x="548640" y="4389120"/>
            <a:ext cx="10972800" cy="365760"/>
          </a:xfrm>
          <a:prstGeom prst="rect">
            <a:avLst/>
          </a:prstGeom>
          <a:noFill/>
        </p:spPr>
        <p:txBody>
          <a:bodyPr wrap="square">
            <a:spAutoFit/>
          </a:bodyPr>
          <a:lstStyle/>
          <a:p>
            <a:r>
              <a:rPr sz="1200" b="1" i="0">
                <a:solidFill>
                  <a:srgbClr val="4DA3FF"/>
                </a:solidFill>
                <a:latin typeface="Segoe UI"/>
              </a:rPr>
              <a:t>Needs</a:t>
            </a:r>
          </a:p>
        </p:txBody>
      </p:sp>
      <p:sp>
        <p:nvSpPr>
          <p:cNvPr id="9" name="TextBox 8"/>
          <p:cNvSpPr txBox="1"/>
          <p:nvPr/>
        </p:nvSpPr>
        <p:spPr>
          <a:xfrm>
            <a:off x="548640" y="4846320"/>
            <a:ext cx="10972800" cy="640080"/>
          </a:xfrm>
          <a:prstGeom prst="rect">
            <a:avLst/>
          </a:prstGeom>
          <a:noFill/>
        </p:spPr>
        <p:txBody>
          <a:bodyPr wrap="square">
            <a:normAutofit/>
          </a:bodyPr>
          <a:lstStyle/>
          <a:p>
            <a:pPr marL="228600" indent="-228600">
              <a:buChar char="•"/>
            </a:pPr>
            <a:r>
              <a:rPr sz="1000" b="0" i="0">
                <a:solidFill>
                  <a:srgbClr val="D7DDEA"/>
                </a:solidFill>
                <a:latin typeface="Segoe UI"/>
              </a:rPr>
              <a:t>Immediate, readable feedback: HP, abilities, cooldowns, base distance — all at a glance on a mobile screen</a:t>
            </a:r>
          </a:p>
          <a:p>
            <a:pPr marL="228600" indent="-228600">
              <a:buChar char="•"/>
            </a:pPr>
            <a:r>
              <a:rPr sz="1000" b="0" i="0">
                <a:solidFill>
                  <a:srgbClr val="D7DDEA"/>
                </a:solidFill>
                <a:latin typeface="Segoe UI"/>
              </a:rPr>
              <a:t>A respawn flow that feels dramatic but fast — INSERT COIN flash, press key, back in action within seconds</a:t>
            </a:r>
          </a:p>
          <a:p>
            <a:pPr marL="228600" indent="-228600">
              <a:buChar char="•"/>
            </a:pPr>
            <a:r>
              <a:rPr sz="1000" b="0" i="0">
                <a:solidFill>
                  <a:srgbClr val="D7DDEA"/>
                </a:solidFill>
                <a:latin typeface="Segoe UI"/>
              </a:rPr>
              <a:t>A kaiju archetype whose role in a combo is obvious from its visual design, discoverable in the first 15 seconds of play</a:t>
            </a:r>
          </a:p>
          <a:p>
            <a:pPr marL="228600" indent="-228600">
              <a:buChar char="•"/>
            </a:pPr>
            <a:r>
              <a:rPr sz="1000" b="0" i="0">
                <a:solidFill>
                  <a:srgbClr val="D7DDEA"/>
                </a:solidFill>
                <a:latin typeface="Segoe UI"/>
              </a:rPr>
              <a:t>Clear signal when the city base is taking damage and when a combo lands — this is how they know they're winning</a:t>
            </a:r>
          </a:p>
          <a:p>
            <a:pPr marL="228600" indent="-228600">
              <a:buChar char="•"/>
            </a:pPr>
            <a:r>
              <a:rPr sz="1000" b="0" i="0">
                <a:solidFill>
                  <a:srgbClr val="D7DDEA"/>
                </a:solidFill>
                <a:latin typeface="Segoe UI"/>
              </a:rPr>
              <a:t>Enough variety across archetypes to make roster choice feel meaningful across multiple sessions</a:t>
            </a:r>
          </a:p>
        </p:txBody>
      </p:sp>
      <p:sp>
        <p:nvSpPr>
          <p:cNvPr id="10" name="TextBox 9"/>
          <p:cNvSpPr txBox="1"/>
          <p:nvPr/>
        </p:nvSpPr>
        <p:spPr>
          <a:xfrm>
            <a:off x="548640" y="5577840"/>
            <a:ext cx="10972800" cy="274320"/>
          </a:xfrm>
          <a:prstGeom prst="rect">
            <a:avLst/>
          </a:prstGeom>
          <a:noFill/>
        </p:spPr>
        <p:txBody>
          <a:bodyPr wrap="square">
            <a:spAutoFit/>
          </a:bodyPr>
          <a:lstStyle/>
          <a:p>
            <a:r>
              <a:rPr sz="1200" b="1" i="0">
                <a:solidFill>
                  <a:srgbClr val="4DA3FF"/>
                </a:solidFill>
                <a:latin typeface="Segoe UI"/>
              </a:rPr>
              <a:t>Mindset</a:t>
            </a:r>
          </a:p>
        </p:txBody>
      </p:sp>
      <p:sp>
        <p:nvSpPr>
          <p:cNvPr id="11" name="TextBox 10"/>
          <p:cNvSpPr txBox="1"/>
          <p:nvPr/>
        </p:nvSpPr>
        <p:spPr>
          <a:xfrm>
            <a:off x="548640" y="5897880"/>
            <a:ext cx="10972800" cy="228600"/>
          </a:xfrm>
          <a:prstGeom prst="rect">
            <a:avLst/>
          </a:prstGeom>
          <a:noFill/>
        </p:spPr>
        <p:txBody>
          <a:bodyPr wrap="square">
            <a:normAutofit/>
          </a:bodyPr>
          <a:lstStyle/>
          <a:p>
            <a:r>
              <a:rPr sz="1000" b="0" i="0">
                <a:solidFill>
                  <a:srgbClr val="D7DDEA"/>
                </a:solidFill>
                <a:latin typeface="Segoe UI"/>
              </a:rPr>
              <a:t>Kaiju players want to feel powerful and chaotic. Coordination happens verbally in the room — "everyone attack NOW" — not through complex in-game menus. They enjoy the improvised emergence of a combo that works out, and the spectacle of watching the Commander scramble. Dying repeatedly is fine; the respawn must feel exciting, not punishing. They are not trying to outthink the Commander — they are trying to overwhelm them. Short rounds mean they can try a different archetype next time.</a:t>
            </a:r>
          </a:p>
        </p:txBody>
      </p:sp>
      <p:sp>
        <p:nvSpPr>
          <p:cNvPr id="12" name="TextBox 11"/>
          <p:cNvSpPr txBox="1"/>
          <p:nvPr/>
        </p:nvSpPr>
        <p:spPr>
          <a:xfrm>
            <a:off x="548640" y="6263640"/>
            <a:ext cx="7863840" cy="228600"/>
          </a:xfrm>
          <a:prstGeom prst="rect">
            <a:avLst/>
          </a:prstGeom>
          <a:noFill/>
        </p:spPr>
        <p:txBody>
          <a:bodyPr wrap="square">
            <a:spAutoFit/>
          </a:bodyPr>
          <a:lstStyle/>
          <a:p>
            <a:r>
              <a:rPr sz="900" b="0" i="0">
                <a:solidFill>
                  <a:srgbClr val="77809A"/>
                </a:solidFill>
                <a:latin typeface="Segoe UI"/>
              </a:rPr>
              <a:t>Source: personas/kaiju-player.md</a:t>
            </a:r>
          </a:p>
        </p:txBody>
      </p:sp>
      <p:sp>
        <p:nvSpPr>
          <p:cNvPr id="13" name="TextBox 12"/>
          <p:cNvSpPr txBox="1"/>
          <p:nvPr/>
        </p:nvSpPr>
        <p:spPr>
          <a:xfrm>
            <a:off x="9784080" y="6263640"/>
            <a:ext cx="1828800" cy="228600"/>
          </a:xfrm>
          <a:prstGeom prst="rect">
            <a:avLst/>
          </a:prstGeom>
          <a:noFill/>
        </p:spPr>
        <p:txBody>
          <a:bodyPr wrap="square">
            <a:spAutoFit/>
          </a:bodyPr>
          <a:lstStyle/>
          <a:p>
            <a:pPr algn="r"/>
            <a:r>
              <a:rPr sz="900" b="0" i="0">
                <a:solidFill>
                  <a:srgbClr val="77809A"/>
                </a:solidFill>
                <a:latin typeface="Segoe UI"/>
              </a:rPr>
              <a:t>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Cards</dc:title>
  <dc:subject>HVE-Core Design Thinking Customer Cards</dc:subject>
  <dc:creator/>
  <cp:keywords>HVE, design thinking, customer cards</cp:keywords>
  <dc:description>generated using python-pptx</dc:description>
  <cp:lastModifiedBy>Steve Canny</cp:lastModifiedBy>
  <cp:revision>1</cp:revision>
  <dcterms:created xsi:type="dcterms:W3CDTF">2013-01-27T09:14:16Z</dcterms:created>
  <dcterms:modified xsi:type="dcterms:W3CDTF">2013-01-27T09:15:58Z</dcterms:modified>
  <cp:category>Customer Presentation</cp:category>
</cp:coreProperties>
</file>